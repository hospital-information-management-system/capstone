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9" r:id="rId4"/>
    <p:sldId id="260" r:id="rId5"/>
    <p:sldId id="262" r:id="rId6"/>
    <p:sldId id="263" r:id="rId7"/>
    <p:sldId id="265" r:id="rId8"/>
    <p:sldId id="266" r:id="rId9"/>
    <p:sldId id="268" r:id="rId10"/>
    <p:sldId id="270" r:id="rId11"/>
    <p:sldId id="271" r:id="rId12"/>
    <p:sldId id="272" r:id="rId13"/>
    <p:sldId id="276" r:id="rId14"/>
    <p:sldId id="277" r:id="rId15"/>
    <p:sldId id="279" r:id="rId16"/>
    <p:sldId id="280" r:id="rId17"/>
    <p:sldId id="281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60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25735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949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E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028090">
              <a:alpha val="30000"/>
            </a:srgbClr>
          </a:solidFill>
          <a:ln w="12700">
            <a:solidFill>
              <a:srgbClr val="028090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0"/>
            <a:ext cx="457200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029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HIMS-AI-2526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6858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Powered Hospital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Information Management System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48640" y="2880360"/>
            <a:ext cx="32004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017520"/>
            <a:ext cx="6858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Members:</a:t>
            </a:r>
          </a:p>
          <a:p>
            <a:pPr marL="0" indent="0">
              <a:buNone/>
            </a:pPr>
            <a:r>
              <a:rPr lang="en-US" sz="12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 Akbar (BSCS51F22R036)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Najee </a:t>
            </a: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Ullah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Noon (BSCS51F22S043)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Aamir Zia  </a:t>
            </a:r>
            <a:endParaRPr lang="en-US" sz="1200" dirty="0" smtClean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2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Muhammad Ilyas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Date: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09-05-2026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46634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 smtClean="0">
                <a:solidFill>
                  <a:srgbClr val="5B7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</a:t>
            </a:r>
            <a:r>
              <a:rPr lang="en-US" sz="1000" i="1" dirty="0">
                <a:solidFill>
                  <a:srgbClr val="5B7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 — Capstone Project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Presentation Agenda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41605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68680"/>
            <a:ext cx="502920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68680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941832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Project Overview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691640"/>
            <a:ext cx="41605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691640"/>
            <a:ext cx="502920" cy="6858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691640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0120" y="1764792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Description &amp; User Roles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514600"/>
            <a:ext cx="41605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514600"/>
            <a:ext cx="502920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514600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60120" y="2587752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Requirements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337560"/>
            <a:ext cx="41605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337560"/>
            <a:ext cx="502920" cy="6858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337560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60120" y="3410712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Non-Functional Requirements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4160520"/>
            <a:ext cx="41605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4160520"/>
            <a:ext cx="502920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160520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60120" y="4233672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46320" y="868680"/>
            <a:ext cx="41605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868680"/>
            <a:ext cx="502920" cy="6858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868680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440680" y="941832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&amp; Technology Stack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46320" y="1691640"/>
            <a:ext cx="41605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46320" y="1691640"/>
            <a:ext cx="502920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1691640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440680" y="1764792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&amp; Modules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846320" y="2514600"/>
            <a:ext cx="41605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46320" y="2514600"/>
            <a:ext cx="502920" cy="6858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0" y="2514600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440680" y="2587752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Documents &amp; Diagrams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846320" y="3337560"/>
            <a:ext cx="41605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846320" y="3337560"/>
            <a:ext cx="502920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46320" y="3337560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440680" y="3410712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Interfaces &amp; Dashboards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846320" y="4160520"/>
            <a:ext cx="41605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846320" y="4160520"/>
            <a:ext cx="502920" cy="6858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46320" y="4160520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440680" y="4233672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References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8503920" cy="914400"/>
          </a:xfrm>
          <a:prstGeom prst="rect">
            <a:avLst/>
          </a:prstGeom>
          <a:solidFill>
            <a:srgbClr val="FFF3CD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A5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  Problem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1430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3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Hospitals face manual data entry, fragmented records, and administrative overload — leading to delays and errors in patient care.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874520"/>
            <a:ext cx="20116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14400" y="2011680"/>
            <a:ext cx="822960" cy="8229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0116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chemeClr val="bg1"/>
                </a:solidFill>
              </a:rPr>
              <a:t>🎙</a:t>
            </a:r>
          </a:p>
        </p:txBody>
      </p:sp>
      <p:sp>
        <p:nvSpPr>
          <p:cNvPr id="10" name="Text 8"/>
          <p:cNvSpPr/>
          <p:nvPr/>
        </p:nvSpPr>
        <p:spPr>
          <a:xfrm>
            <a:off x="411480" y="2926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Recording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329184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doctor-patient conversation capture &amp; transcription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68880" y="1874520"/>
            <a:ext cx="20116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063240" y="2011680"/>
            <a:ext cx="822960" cy="8229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63240" y="20116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 smtClean="0">
                <a:solidFill>
                  <a:schemeClr val="bg1"/>
                </a:solidFill>
              </a:rPr>
              <a:t>👨‍💻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2560320" y="2926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NLP Extraction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560320" y="329184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GPT-based extraction of symptoms, diagnosis &amp; medications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17720" y="1874520"/>
            <a:ext cx="20116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212080" y="2011680"/>
            <a:ext cx="822960" cy="8229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12080" y="20116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chemeClr val="bg1"/>
                </a:solidFill>
              </a:rPr>
              <a:t>✅</a:t>
            </a:r>
          </a:p>
        </p:txBody>
      </p:sp>
      <p:sp>
        <p:nvSpPr>
          <p:cNvPr id="20" name="Text 18"/>
          <p:cNvSpPr/>
          <p:nvPr/>
        </p:nvSpPr>
        <p:spPr>
          <a:xfrm>
            <a:off x="4709160" y="2926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Doctor Verification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09160" y="329184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 review AI notes before they are saved to the database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766560" y="1874520"/>
            <a:ext cx="20116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360920" y="2011680"/>
            <a:ext cx="822960" cy="8229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60920" y="20116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chemeClr val="bg1"/>
                </a:solidFill>
              </a:rPr>
              <a:t>📊</a:t>
            </a:r>
          </a:p>
        </p:txBody>
      </p:sp>
      <p:sp>
        <p:nvSpPr>
          <p:cNvPr id="25" name="Text 23"/>
          <p:cNvSpPr/>
          <p:nvPr/>
        </p:nvSpPr>
        <p:spPr>
          <a:xfrm>
            <a:off x="6858000" y="2926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Smart Dashboards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858000" y="329184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dashboards for Doctors, Admin, Receptionists &amp; Patients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Scope — Inclusions &amp; </a:t>
            </a:r>
            <a:r>
              <a:rPr lang="en-US" sz="22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      Exclusions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41148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buSzPct val="100000"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AI-assisted medical note creation from doctor-patient conversations</a:t>
            </a:r>
            <a:endParaRPr lang="en-US" sz="1400" dirty="0"/>
          </a:p>
          <a:p>
            <a:pPr>
              <a:buSzPct val="100000"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Smart appointment &amp; real-time queue management</a:t>
            </a:r>
            <a:endParaRPr lang="en-US" sz="1400" dirty="0"/>
          </a:p>
          <a:p>
            <a:pPr>
              <a:buSzPct val="100000"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Controlled patient self-registration (staff-verified activation)</a:t>
            </a:r>
            <a:endParaRPr lang="en-US" sz="1400" dirty="0"/>
          </a:p>
          <a:p>
            <a:pPr>
              <a:buSzPct val="100000"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Centralized patient record &amp; prescription management</a:t>
            </a:r>
            <a:endParaRPr lang="en-US" sz="1400" dirty="0"/>
          </a:p>
          <a:p>
            <a:pPr>
              <a:buSzPct val="100000"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Integrated staff dashboards for all user roles</a:t>
            </a:r>
            <a:endParaRPr lang="en-US" sz="1400" dirty="0"/>
          </a:p>
          <a:p>
            <a:pPr>
              <a:buSzPct val="100000"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Secure messaging, billing, and downloadable reports</a:t>
            </a:r>
            <a:endParaRPr lang="en-US" sz="1400" dirty="0"/>
          </a:p>
          <a:p>
            <a:pPr>
              <a:buSzPct val="100000"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Healthcare analytics and operational insights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617720" y="822960"/>
            <a:ext cx="27432" cy="3931920"/>
          </a:xfrm>
          <a:prstGeom prst="rect">
            <a:avLst/>
          </a:prstGeom>
          <a:solidFill>
            <a:srgbClr val="D0E8EC"/>
          </a:solidFill>
          <a:ln w="12700">
            <a:solidFill>
              <a:srgbClr val="D0E8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0" y="822960"/>
            <a:ext cx="41148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buSzPct val="100000"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 No autonomous disease diagnosis without doctor approval</a:t>
            </a:r>
            <a:endParaRPr lang="en-US" sz="1400" dirty="0"/>
          </a:p>
          <a:p>
            <a:pPr>
              <a:buSzPct val="100000"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 No cross-hospital automatic data transfer</a:t>
            </a:r>
            <a:endParaRPr lang="en-US" sz="1400" dirty="0"/>
          </a:p>
          <a:p>
            <a:pPr>
              <a:buSzPct val="100000"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 No payroll or pharmacy stock management</a:t>
            </a:r>
            <a:endParaRPr lang="en-US" sz="1400" dirty="0"/>
          </a:p>
          <a:p>
            <a:pPr>
              <a:buSzPct val="100000"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 No emergency dispatch or ambulance coordination</a:t>
            </a:r>
            <a:endParaRPr lang="en-US" sz="1400" dirty="0"/>
          </a:p>
          <a:p>
            <a:pPr>
              <a:buSzPct val="100000"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 No predictive disease analytics in current version</a:t>
            </a:r>
            <a:endParaRPr lang="en-US" sz="1400" dirty="0"/>
          </a:p>
          <a:p>
            <a:pPr>
              <a:buSzPct val="100000"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 Language limited to English, Urdu, and Punjabi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 Roles &amp; Characteristics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40233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25880"/>
            <a:ext cx="777240" cy="7772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258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chemeClr val="bg1"/>
                </a:solidFill>
              </a:rPr>
              <a:t>👨‍⚕️</a:t>
            </a:r>
          </a:p>
        </p:txBody>
      </p:sp>
      <p:sp>
        <p:nvSpPr>
          <p:cNvPr id="7" name="Text 5"/>
          <p:cNvSpPr/>
          <p:nvPr/>
        </p:nvSpPr>
        <p:spPr>
          <a:xfrm>
            <a:off x="1325880" y="98755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Doctor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25880" y="1371600"/>
            <a:ext cx="2834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user. Manages consultations, reviews AI-generated SOAP notes, confirms and stores medical records. Requires minimal interface interruption.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2834640"/>
            <a:ext cx="40233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3337560"/>
            <a:ext cx="777240" cy="777240"/>
          </a:xfrm>
          <a:prstGeom prst="ellipse">
            <a:avLst/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3375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chemeClr val="bg1"/>
                </a:solidFill>
              </a:rPr>
              <a:t>🏥</a:t>
            </a:r>
          </a:p>
        </p:txBody>
      </p:sp>
      <p:sp>
        <p:nvSpPr>
          <p:cNvPr id="12" name="Text 10"/>
          <p:cNvSpPr/>
          <p:nvPr/>
        </p:nvSpPr>
        <p:spPr>
          <a:xfrm>
            <a:off x="1325880" y="299923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5F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Admin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325880" y="3383280"/>
            <a:ext cx="2834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user accounts, monitors data flow, generates analytical reports, and ensures system compliance and security.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822960"/>
            <a:ext cx="40233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92040" y="1325880"/>
            <a:ext cx="777240" cy="7772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13258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chemeClr val="bg1"/>
                </a:solidFill>
              </a:rPr>
              <a:t>📋</a:t>
            </a:r>
          </a:p>
        </p:txBody>
      </p:sp>
      <p:sp>
        <p:nvSpPr>
          <p:cNvPr id="17" name="Text 15"/>
          <p:cNvSpPr/>
          <p:nvPr/>
        </p:nvSpPr>
        <p:spPr>
          <a:xfrm>
            <a:off x="5760720" y="98755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Receptionist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760720" y="1371600"/>
            <a:ext cx="2834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to one doctor. Handles patient registration, appointment scheduling, queue management, and check-ins.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2834640"/>
            <a:ext cx="40233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92040" y="3337560"/>
            <a:ext cx="777240" cy="777240"/>
          </a:xfrm>
          <a:prstGeom prst="ellipse">
            <a:avLst/>
          </a:prstGeom>
          <a:solidFill>
            <a:srgbClr val="6B4FAA"/>
          </a:solidFill>
          <a:ln w="12700">
            <a:solidFill>
              <a:srgbClr val="6B4FA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33375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 smtClean="0">
                <a:solidFill>
                  <a:schemeClr val="bg1"/>
                </a:solidFill>
              </a:rPr>
              <a:t>🙍🏻‍♂️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5760720" y="299923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B4F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Patient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760720" y="3383280"/>
            <a:ext cx="2834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Tertiary user. Accesses visit history, prescriptions, and reports through patient portal. Staff can assist non-technical patients.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Operating Environment &amp; System Constraints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39319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68680"/>
            <a:ext cx="109728" cy="8046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869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Web-Based Platform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16128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via Chrome, Edge, Firefox on desktop or mobile devices.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1828800"/>
            <a:ext cx="39319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828800"/>
            <a:ext cx="109728" cy="8046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847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Cloud Hosting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212140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cloud infrastructure for high availability, backups, and scalability.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2788920"/>
            <a:ext cx="39319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788920"/>
            <a:ext cx="109728" cy="8046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072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Hardware Needs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308152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Min. 8 GB RAM, stable internet. Django backend + ReactJS frontend.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3749040"/>
            <a:ext cx="39319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749040"/>
            <a:ext cx="109728" cy="8046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7673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Database &amp; APIs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" y="40416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for data. REST APIs for AI, NLP, and auth integration.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92040" y="868680"/>
            <a:ext cx="39319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92040" y="868680"/>
            <a:ext cx="109728" cy="8046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74920" y="8869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Software Constraint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74920" y="116128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 on Whisper AI &amp; spaCy APIs; service interruptions affect accuracy.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92040" y="1828800"/>
            <a:ext cx="39319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92040" y="1828800"/>
            <a:ext cx="109728" cy="8046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74920" y="1847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Language Constraint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74920" y="212140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English, Urdu, Punjabi only. Accents/dialects may reduce accuracy.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92040" y="2788920"/>
            <a:ext cx="39319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92040" y="2788920"/>
            <a:ext cx="109728" cy="8046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74920" y="28072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Privacy &amp; Legal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074920" y="308152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HIPAA-equivalent compliance required. Consent needed for recordings.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92040" y="3749040"/>
            <a:ext cx="39319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92040" y="3749040"/>
            <a:ext cx="109728" cy="8046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74920" y="37673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Environmental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074920" y="40416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noise in busy hospitals can reduce transcription accuracy.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Functional Requirements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4069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22960"/>
            <a:ext cx="64008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2296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51560" y="91440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Patient Registration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51560" y="1225296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Staff-verified registration with unique hospital ID assignment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822960"/>
            <a:ext cx="4069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822960"/>
            <a:ext cx="64008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82296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0" y="91440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Appointment Scheduling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0" y="1225296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First-come-first-serve booking with real-time queue tracking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1874520"/>
            <a:ext cx="4069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1874520"/>
            <a:ext cx="640080" cy="9144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187452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51560" y="196596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Electronic Medical Records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51560" y="2276856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Secure, centralized storage of diagnoses &amp; treatment histories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1874520"/>
            <a:ext cx="4069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1874520"/>
            <a:ext cx="640080" cy="9144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187452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486400" y="196596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Billing &amp; Payment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0" y="2276856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bills; JazzCash / Easypaisa online payment support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2926080"/>
            <a:ext cx="4069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2926080"/>
            <a:ext cx="64008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292608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51560" y="301752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Role-Based Auth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51560" y="3328416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login with RBAC for Admin, Doctor, Receptionist, Patient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2926080"/>
            <a:ext cx="4069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2926080"/>
            <a:ext cx="64008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292608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486400" y="301752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Analytics &amp; Reports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486400" y="3328416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Graphical dashboards; PDF export of hospital analytics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0040" y="3977640"/>
            <a:ext cx="4069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20040" y="3977640"/>
            <a:ext cx="640080" cy="9144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" y="397764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FR-07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51560" y="406908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Notifications &amp; Alerts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051560" y="4379976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reminders, billing alerts via dashboard notifications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754880" y="3977640"/>
            <a:ext cx="4069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754880" y="3977640"/>
            <a:ext cx="640080" cy="9144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0" y="397764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FR-08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486400" y="406908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Backup &amp; Recovery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486400" y="4379976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automated backups; admin-triggered data restoration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21265"/>
            <a:ext cx="9144000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Non-Functional Requirements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18848"/>
            <a:ext cx="40690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04672"/>
            <a:ext cx="406908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04672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Performance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243584"/>
            <a:ext cx="379476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records retrieved in &lt; 20 sec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Appointments scheduled in &lt; 5 sec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100 concurrent users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loads in &lt; 6 sec on hospital network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2880360"/>
            <a:ext cx="40690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2880360"/>
            <a:ext cx="4069080" cy="384048"/>
          </a:xfrm>
          <a:prstGeom prst="rect">
            <a:avLst/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880360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Safety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3319272"/>
            <a:ext cx="379476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 unauthorized modification of records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automatic data backups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Auto-recovery on server crash / power outage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 messages for invalid operations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804672"/>
            <a:ext cx="40690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804672"/>
            <a:ext cx="4069080" cy="38404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804672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92040" y="1243584"/>
            <a:ext cx="379476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 (RBAC)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SSL/TLS encryption at rest &amp; in transit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logs of all user activities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timeout for inactive users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2880360"/>
            <a:ext cx="40690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880360"/>
            <a:ext cx="4069080" cy="384048"/>
          </a:xfrm>
          <a:prstGeom prst="rect">
            <a:avLst/>
          </a:prstGeom>
          <a:solidFill>
            <a:srgbClr val="6B4FAA"/>
          </a:solidFill>
          <a:ln w="12700">
            <a:solidFill>
              <a:srgbClr val="6B4FA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2880360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Documentation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92040" y="3319272"/>
            <a:ext cx="379476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manual for all roles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guide for config &amp; maintenance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Troubleshooting guide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In-system help tooltips &amp; FAQs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 Cases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850392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04672"/>
            <a:ext cx="822960" cy="7589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04672"/>
            <a:ext cx="8229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UC-21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234440" y="8503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AI-Assisted Medical Documentation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34440" y="115214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7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Actor(s): Doctors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297680" y="877824"/>
            <a:ext cx="18288" cy="612648"/>
          </a:xfrm>
          <a:prstGeom prst="rect">
            <a:avLst/>
          </a:prstGeom>
          <a:solidFill>
            <a:srgbClr val="D0E8EC"/>
          </a:solidFill>
          <a:ln w="12700">
            <a:solidFill>
              <a:srgbClr val="D0E8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34840" y="850392"/>
            <a:ext cx="42519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starts session → AI captures conversation → NLP extracts key info → Doctor reviews &amp; confirms → Records saved to database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1655064"/>
            <a:ext cx="850392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1655064"/>
            <a:ext cx="822960" cy="758952"/>
          </a:xfrm>
          <a:prstGeom prst="rect">
            <a:avLst/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655064"/>
            <a:ext cx="8229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UC-22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234440" y="170078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Appointment &amp; Queue Management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34440" y="200253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7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Actor(s): Patients, Receptionists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297680" y="1728216"/>
            <a:ext cx="18288" cy="612648"/>
          </a:xfrm>
          <a:prstGeom prst="rect">
            <a:avLst/>
          </a:prstGeom>
          <a:solidFill>
            <a:srgbClr val="D0E8EC"/>
          </a:solidFill>
          <a:ln w="12700">
            <a:solidFill>
              <a:srgbClr val="D0E8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34840" y="1700784"/>
            <a:ext cx="42519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requests appointment → Receptionist confirms → Queue position assigned → Real-time queue updates displayed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" y="2505456"/>
            <a:ext cx="850392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2505456"/>
            <a:ext cx="822960" cy="7589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2505456"/>
            <a:ext cx="8229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UC-23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234440" y="255117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Patient Record Access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234440" y="285292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7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Actor(s): Doctors, Patients, Receptionists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297680" y="2578608"/>
            <a:ext cx="18288" cy="612648"/>
          </a:xfrm>
          <a:prstGeom prst="rect">
            <a:avLst/>
          </a:prstGeom>
          <a:solidFill>
            <a:srgbClr val="D0E8EC"/>
          </a:solidFill>
          <a:ln w="12700">
            <a:solidFill>
              <a:srgbClr val="D0E8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34840" y="2551176"/>
            <a:ext cx="42519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logs in → Searches patient → Views history, prescriptions, reports → Can download PDF reports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20040" y="3355848"/>
            <a:ext cx="850392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3355848"/>
            <a:ext cx="822960" cy="758952"/>
          </a:xfrm>
          <a:prstGeom prst="rect">
            <a:avLst/>
          </a:prstGeom>
          <a:solidFill>
            <a:srgbClr val="6B4FAA"/>
          </a:solidFill>
          <a:ln w="12700">
            <a:solidFill>
              <a:srgbClr val="6B4FA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3355848"/>
            <a:ext cx="8229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UC-24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234440" y="34015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Prescription Management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234440" y="37033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7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Actor(s): Doctors, Patients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297680" y="3429000"/>
            <a:ext cx="18288" cy="612648"/>
          </a:xfrm>
          <a:prstGeom prst="rect">
            <a:avLst/>
          </a:prstGeom>
          <a:solidFill>
            <a:srgbClr val="D0E8EC"/>
          </a:solidFill>
          <a:ln w="12700">
            <a:solidFill>
              <a:srgbClr val="D0E8E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34840" y="3401568"/>
            <a:ext cx="42519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creates/updates prescription → Stored in database → Patient accesses digital prescription via portal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20040" y="4206240"/>
            <a:ext cx="850392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20040" y="4206240"/>
            <a:ext cx="822960" cy="758952"/>
          </a:xfrm>
          <a:prstGeom prst="rect">
            <a:avLst/>
          </a:prstGeom>
          <a:solidFill>
            <a:srgbClr val="C05A2A"/>
          </a:solidFill>
          <a:ln w="12700">
            <a:solidFill>
              <a:srgbClr val="C05A2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040" y="4206240"/>
            <a:ext cx="8229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UC-25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234440" y="42519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Secure Communication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234440" y="455371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7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Actor(s): All User Roles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297680" y="4279392"/>
            <a:ext cx="18288" cy="612648"/>
          </a:xfrm>
          <a:prstGeom prst="rect">
            <a:avLst/>
          </a:prstGeom>
          <a:solidFill>
            <a:srgbClr val="D0E8EC"/>
          </a:solidFill>
          <a:ln w="12700">
            <a:solidFill>
              <a:srgbClr val="D0E8E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434840" y="4251960"/>
            <a:ext cx="42519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send healthcare messages → System delivers securely → Dashboard alerts for appointments &amp; billing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Technology Stack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8503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04672"/>
            <a:ext cx="1645920" cy="749808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04672"/>
            <a:ext cx="1645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148840" y="941832"/>
            <a:ext cx="6537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ReactJS  |  HTML5  |  CSS3  |  Tailwind CSS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20040" y="1655064"/>
            <a:ext cx="8503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655064"/>
            <a:ext cx="1645920" cy="7498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655064"/>
            <a:ext cx="1645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Backend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148840" y="1792224"/>
            <a:ext cx="6537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(Python)  |  Django REST Framework  |  Cookie-Based Auth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20040" y="2505456"/>
            <a:ext cx="8503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505456"/>
            <a:ext cx="1645920" cy="7498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505456"/>
            <a:ext cx="1645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Database &amp; Storage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148840" y="2642616"/>
            <a:ext cx="6537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 |  Cloud / Local Storage  |  CSV Export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20040" y="3355848"/>
            <a:ext cx="8503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355848"/>
            <a:ext cx="1645920" cy="749808"/>
          </a:xfrm>
          <a:prstGeom prst="rect">
            <a:avLst/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3355848"/>
            <a:ext cx="1645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</a:t>
            </a:r>
            <a:r>
              <a:rPr lang="en-US" sz="11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</a:t>
            </a: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Voice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148840" y="3493008"/>
            <a:ext cx="6537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 AI (ASR)  |  spaCy NLP  |  SOAP Note Generation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320040" y="4206240"/>
            <a:ext cx="8503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4206240"/>
            <a:ext cx="1645920" cy="749808"/>
          </a:xfrm>
          <a:prstGeom prst="rect">
            <a:avLst/>
          </a:prstGeom>
          <a:solidFill>
            <a:srgbClr val="6B4FAA"/>
          </a:solidFill>
          <a:ln w="12700">
            <a:solidFill>
              <a:srgbClr val="6B4FA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4206240"/>
            <a:ext cx="1645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DevOps &amp; Tools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148840" y="4343400"/>
            <a:ext cx="6537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/ GitHub  |  Netlify (Frontend)  |  Linux Server (Backend)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Architecture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828800"/>
            <a:ext cx="1645920" cy="13258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828800"/>
            <a:ext cx="1645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(Browser)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103120" y="1828800"/>
            <a:ext cx="1645920" cy="1325880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103120" y="1828800"/>
            <a:ext cx="1645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ReactJS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931920" y="1828800"/>
            <a:ext cx="1645920" cy="13258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931920" y="1828800"/>
            <a:ext cx="1645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Django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Backend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 DRF APIs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760720" y="1828800"/>
            <a:ext cx="1645920" cy="1325880"/>
          </a:xfrm>
          <a:prstGeom prst="rect">
            <a:avLst/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0" y="1828800"/>
            <a:ext cx="1645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PostgreSQL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Database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931920" y="3474720"/>
            <a:ext cx="1645920" cy="1325880"/>
          </a:xfrm>
          <a:prstGeom prst="rect">
            <a:avLst/>
          </a:prstGeom>
          <a:solidFill>
            <a:srgbClr val="6B4FAA"/>
          </a:solidFill>
          <a:ln w="12700">
            <a:solidFill>
              <a:srgbClr val="6B4FAA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931920" y="3474720"/>
            <a:ext cx="1645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/ Voice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Services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920240" y="2496312"/>
            <a:ext cx="18288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49040" y="2496312"/>
            <a:ext cx="18288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577840" y="2496312"/>
            <a:ext cx="18288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0" y="3154680"/>
            <a:ext cx="0" cy="32004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43800" y="804672"/>
            <a:ext cx="1417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ReactJS frontend provides role-based dashboards communicating via REST APIs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7543800" y="1655064"/>
            <a:ext cx="1417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Django backend handles business logic, RBAC, AI documentation, and DB operations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7543800" y="2505456"/>
            <a:ext cx="1417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PostgreSQL stores all patient records, appointments, prescriptions, and logs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7543800" y="3355848"/>
            <a:ext cx="1417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 / Voice modules process speech-to-text and NLP for structured medical notes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543800" y="4206240"/>
            <a:ext cx="1417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External SMTP / email APIs support notifications and appointment alerts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406640" y="794536"/>
            <a:ext cx="160020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98080" y="822960"/>
            <a:ext cx="1463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ReactJS frontend provides role-based dashboards communicating via REST APIs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498080" y="1775248"/>
            <a:ext cx="1463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Django backend handles business logic, RBAC, AI documentation, and DB operations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498080" y="2544974"/>
            <a:ext cx="1463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PostgreSQL stores all patient records, appointments, prescriptions, and logs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498080" y="3316011"/>
            <a:ext cx="1463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 / Voice modules process speech-to-text and NLP for structured medical notes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498080" y="4184691"/>
            <a:ext cx="1463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External SMTP / email APIs support notifications and appointment alerts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21265"/>
            <a:ext cx="9144000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Module Implementations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39319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68680"/>
            <a:ext cx="109728" cy="8046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869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Consultation &amp; Documentation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16128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capture → Whisper STT → spaCy NLP → SOAP note generation → Doctor confirmation → PostgreSQL storage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828800"/>
            <a:ext cx="39319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828800"/>
            <a:ext cx="109728" cy="8046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847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Appointment &amp; Queue Management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212140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book online → System assigns FCFS queue position → Real-time status updates via dashboard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2788920"/>
            <a:ext cx="39319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788920"/>
            <a:ext cx="109728" cy="8046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072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Patient Record &amp; Prescription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308152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records with prescription history; downloadable PDF reports for patients and doctors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92040" y="868680"/>
            <a:ext cx="39319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92040" y="868680"/>
            <a:ext cx="109728" cy="8046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74920" y="8869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Communication &amp; Notification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74920" y="116128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healthcare messaging; appointment reminders and billing alerts via dashboard and email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92040" y="1828800"/>
            <a:ext cx="39319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92040" y="1828800"/>
            <a:ext cx="109728" cy="8046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74920" y="1847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Administrative Dashboard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74920" y="212140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management, doctor-receptionist assignments, analytics dashboards, billing, and activity monitoring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92040" y="2788920"/>
            <a:ext cx="39319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92040" y="2788920"/>
            <a:ext cx="109728" cy="8046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74920" y="28072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Authentication &amp; RBAC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74920" y="308152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 for Admin, Doctor, Receptionist, Patient; cookie-based session management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0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UI Interfaces — Dashboards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27432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04672"/>
            <a:ext cx="2743200" cy="43891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804672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Landing Page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280160"/>
            <a:ext cx="25603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Vocacare branding &amp; tagline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/ Log In CTAs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point for all user roles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804672"/>
            <a:ext cx="27432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804672"/>
            <a:ext cx="2743200" cy="438912"/>
          </a:xfrm>
          <a:prstGeom prst="rect">
            <a:avLst/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804672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Patient Dashboard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91840" y="1280160"/>
            <a:ext cx="25603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 appointments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history &amp; prescriptions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summary &amp; payments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80760" y="804672"/>
            <a:ext cx="27432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80760" y="804672"/>
            <a:ext cx="2743200" cy="43891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72200" y="804672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Doctor Dashboard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72200" y="1280160"/>
            <a:ext cx="25603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appointments &amp; patient list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session with SOAP note editor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recorder + AI summary preview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2999232"/>
            <a:ext cx="27432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999232"/>
            <a:ext cx="2743200" cy="438912"/>
          </a:xfrm>
          <a:prstGeom prst="rect">
            <a:avLst/>
          </a:prstGeom>
          <a:solidFill>
            <a:srgbClr val="6B4FAA"/>
          </a:solidFill>
          <a:ln w="12700">
            <a:solidFill>
              <a:srgbClr val="6B4FA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999232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Receptionist Dashboard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1480" y="3474720"/>
            <a:ext cx="25603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Doctor-specific appointments only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search &amp; check-in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patient / book appointment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0" y="2999232"/>
            <a:ext cx="27432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0" y="2999232"/>
            <a:ext cx="2743200" cy="438912"/>
          </a:xfrm>
          <a:prstGeom prst="rect">
            <a:avLst/>
          </a:prstGeom>
          <a:solidFill>
            <a:srgbClr val="C05A2A"/>
          </a:solidFill>
          <a:ln w="12700">
            <a:solidFill>
              <a:srgbClr val="C05A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91840" y="2999232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Admin Dashboard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91840" y="3474720"/>
            <a:ext cx="25603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user &amp; role management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Analytics: revenue, patients, activity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management &amp; system logs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0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Doctor Consultation Session Flow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1581912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04088" y="914400"/>
            <a:ext cx="822960" cy="8229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9144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11480" y="1828800"/>
            <a:ext cx="1399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E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 Session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2331720"/>
            <a:ext cx="139903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7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fullscreen session modal; loads patient history &amp; SOAP template; requests mic permission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901952" y="1664208"/>
            <a:ext cx="13716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39112" y="804672"/>
            <a:ext cx="1581912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23160" y="914400"/>
            <a:ext cx="822960" cy="82296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23160" y="9144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130552" y="1828800"/>
            <a:ext cx="1399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E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Record Conversation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130552" y="2331720"/>
            <a:ext cx="139903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7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captured in real time; 'Recording…' pulse indicator; stop to save audio blob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21024" y="1664208"/>
            <a:ext cx="13716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58184" y="804672"/>
            <a:ext cx="1581912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42232" y="914400"/>
            <a:ext cx="822960" cy="8229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42232" y="9144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849624" y="1828800"/>
            <a:ext cx="1399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E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Processing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849624" y="2331720"/>
            <a:ext cx="139903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7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 STT converts audio to text; spaCy NLP extracts symptoms, diagnosis, medications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340096" y="1664208"/>
            <a:ext cx="13716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77256" y="804672"/>
            <a:ext cx="1581912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861304" y="914400"/>
            <a:ext cx="822960" cy="82296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61304" y="9144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568696" y="1828800"/>
            <a:ext cx="1399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E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 SOAP Notes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568696" y="2331720"/>
            <a:ext cx="139903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7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summary displayed; doctor can edit fields; unsaved changes are highlighted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059168" y="1664208"/>
            <a:ext cx="13716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196328" y="804672"/>
            <a:ext cx="1581912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580376" y="914400"/>
            <a:ext cx="822960" cy="8229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80376" y="9144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287768" y="1828800"/>
            <a:ext cx="1399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E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Submit &amp; Store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287768" y="2331720"/>
            <a:ext cx="139903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7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SOAP notes + audio uploaded; appointment marked 'Completed'; records saved to PostgreSQL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0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Functionality &amp; Performance Testing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27432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04672"/>
            <a:ext cx="2743200" cy="4754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804672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Functional Testing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29768" y="1335024"/>
            <a:ext cx="2523744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registration, login, role access verified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booking and real-time queue updates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recording → transcription → SOAP note → storage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 creation, access, and PDF download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804672"/>
            <a:ext cx="27432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804672"/>
            <a:ext cx="2743200" cy="47548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804672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Performance Testing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10128" y="1335024"/>
            <a:ext cx="2523744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retrieval &lt; 20 sec under load testing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concurrent users simulated — no degradation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load time &lt; 6 sec on standard network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generation for 5,000 records &lt; 7 sec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80760" y="804672"/>
            <a:ext cx="27432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80760" y="804672"/>
            <a:ext cx="2743200" cy="475488"/>
          </a:xfrm>
          <a:prstGeom prst="rect">
            <a:avLst/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72200" y="804672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 Testing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90488" y="1335024"/>
            <a:ext cx="2523744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RBAC: unauthorized access blocked and logged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verified for data at rest and in transit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timeout enforced for inactive users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 and XSS protection tested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A2E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54864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 &amp; Impact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3931920" cy="1463040"/>
          </a:xfrm>
          <a:prstGeom prst="rect">
            <a:avLst/>
          </a:prstGeom>
          <a:solidFill>
            <a:srgbClr val="0D3040"/>
          </a:solidFill>
          <a:ln w="12700">
            <a:solidFill>
              <a:srgbClr val="028090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38988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🎙  AI-Driven Documentation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1755648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manual data entry; SOAP notes generated automatically from doctor-patient conversations.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846320" y="1280160"/>
            <a:ext cx="3931920" cy="1463040"/>
          </a:xfrm>
          <a:prstGeom prst="rect">
            <a:avLst/>
          </a:prstGeom>
          <a:solidFill>
            <a:srgbClr val="0D3040"/>
          </a:solidFill>
          <a:ln w="12700">
            <a:solidFill>
              <a:srgbClr val="028090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0" y="138988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🏥  Operational Efficiency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0" y="1755648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queue management and centralized records reduce waiting times and administrative load.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3017520"/>
            <a:ext cx="3931920" cy="1463040"/>
          </a:xfrm>
          <a:prstGeom prst="rect">
            <a:avLst/>
          </a:prstGeom>
          <a:solidFill>
            <a:srgbClr val="0D3040"/>
          </a:solidFill>
          <a:ln w="12700">
            <a:solidFill>
              <a:srgbClr val="028090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31520" y="312724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🔒  Secure &amp; Compliant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3493008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RBAC, SSL/TLS encryption, audit logs, and HIPAA-equivalent compliance protect patient data.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846320" y="3017520"/>
            <a:ext cx="3931920" cy="1463040"/>
          </a:xfrm>
          <a:prstGeom prst="rect">
            <a:avLst/>
          </a:prstGeom>
          <a:solidFill>
            <a:srgbClr val="0D3040"/>
          </a:solidFill>
          <a:ln w="12700">
            <a:solidFill>
              <a:srgbClr val="028090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29200" y="312724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📈  Scalable Architecture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0" y="3493008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design supports future AI enhancements and integration with additional hospital systems.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466344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"Transforming conversations into care."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E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54864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553771" y="2366470"/>
            <a:ext cx="6036458" cy="4105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i="1" dirty="0" smtClean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6730311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1510</Words>
  <Application>Microsoft Office PowerPoint</Application>
  <PresentationFormat>On-screen Show (16:9)</PresentationFormat>
  <Paragraphs>284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Georgia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Powered Hospital Information Management System</dc:title>
  <dc:subject>PptxGenJS Presentation</dc:subject>
  <dc:creator>PptxGenJS</dc:creator>
  <cp:lastModifiedBy>ILLUSION</cp:lastModifiedBy>
  <cp:revision>18</cp:revision>
  <dcterms:created xsi:type="dcterms:W3CDTF">2026-05-10T11:15:10Z</dcterms:created>
  <dcterms:modified xsi:type="dcterms:W3CDTF">2026-05-19T17:26:11Z</dcterms:modified>
</cp:coreProperties>
</file>