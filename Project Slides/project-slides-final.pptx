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62" r:id="rId6"/>
    <p:sldId id="287" r:id="rId7"/>
    <p:sldId id="263" r:id="rId8"/>
    <p:sldId id="265" r:id="rId9"/>
    <p:sldId id="266" r:id="rId10"/>
    <p:sldId id="268" r:id="rId11"/>
    <p:sldId id="270" r:id="rId12"/>
    <p:sldId id="271" r:id="rId13"/>
    <p:sldId id="272" r:id="rId14"/>
    <p:sldId id="276" r:id="rId15"/>
    <p:sldId id="283" r:id="rId16"/>
    <p:sldId id="284" r:id="rId17"/>
    <p:sldId id="285" r:id="rId18"/>
    <p:sldId id="286" r:id="rId19"/>
    <p:sldId id="279" r:id="rId20"/>
    <p:sldId id="280" r:id="rId21"/>
    <p:sldId id="281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573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983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83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403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064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4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HIMS-AI-2526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Powered Hospital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Management System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200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</a:p>
          <a:p>
            <a:pPr marL="0" indent="0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Akbar (BSCS51F22R036)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Najee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Ullah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Noon (BSCS51F22S043)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Aamir Zia  </a:t>
            </a:r>
            <a:endParaRPr lang="en-US" sz="1200" dirty="0" smtClean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Muhammad Ilyas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Date: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09-05-2026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smtClean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</a:t>
            </a:r>
            <a:r>
              <a:rPr lang="en-US" sz="1000" i="1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— Capstone Project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5029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9418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Overview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5029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76479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Description &amp; User Roles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14600"/>
            <a:ext cx="5029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146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58775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375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37560"/>
            <a:ext cx="5029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375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41071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160520"/>
            <a:ext cx="5029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605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23367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86868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868680"/>
            <a:ext cx="5029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8686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9418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Technology Stack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69164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691640"/>
            <a:ext cx="5029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6916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176479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Modules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251460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514600"/>
            <a:ext cx="5029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5146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40680" y="258775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Documents &amp; Diagrams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33375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337560"/>
            <a:ext cx="5029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3375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40680" y="341071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Interfaces &amp; Dashboards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46320" y="416052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4160520"/>
            <a:ext cx="5029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1605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40680" y="423367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References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914400"/>
          </a:xfrm>
          <a:prstGeom prst="rect">
            <a:avLst/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face manual data entry, fragmented records, and administrative overload — leading to delays and errors in patient care.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</a:rPr>
              <a:t>🎙</a:t>
            </a:r>
          </a:p>
        </p:txBody>
      </p:sp>
      <p:sp>
        <p:nvSpPr>
          <p:cNvPr id="10" name="Text 8"/>
          <p:cNvSpPr/>
          <p:nvPr/>
        </p:nvSpPr>
        <p:spPr>
          <a:xfrm>
            <a:off x="41148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Recording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doctor-patient conversation capture &amp; transcription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18745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20116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👨‍💻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603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 Extraction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GPT-based extraction of symptoms, diagnosis &amp; medications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18745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0" y="20116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✅</a:t>
            </a:r>
          </a:p>
        </p:txBody>
      </p:sp>
      <p:sp>
        <p:nvSpPr>
          <p:cNvPr id="20" name="Text 18"/>
          <p:cNvSpPr/>
          <p:nvPr/>
        </p:nvSpPr>
        <p:spPr>
          <a:xfrm>
            <a:off x="470916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 Verification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review AI notes before they are saved to the database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0" y="18745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60920" y="20116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📊</a:t>
            </a:r>
          </a:p>
        </p:txBody>
      </p:sp>
      <p:sp>
        <p:nvSpPr>
          <p:cNvPr id="25" name="Text 23"/>
          <p:cNvSpPr/>
          <p:nvPr/>
        </p:nvSpPr>
        <p:spPr>
          <a:xfrm>
            <a:off x="685800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Dashboards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for Doctors, Admin, Receptionists &amp; Patients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Scope — Inclusions &amp; 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    Exclusions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AI-assisted medical note creation from doctor-patient conversations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Smart appointment &amp; real-time queue management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Controlled patient self-registration (staff-verified activation)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Centralized patient record &amp; prescription management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Integrated staff dashboards for all user roles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Secure messaging, billing, and downloadable reports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Healthcare analytics and operational insights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17720" y="822960"/>
            <a:ext cx="27432" cy="3931920"/>
          </a:xfrm>
          <a:prstGeom prst="rect">
            <a:avLst/>
          </a:prstGeom>
          <a:solidFill>
            <a:srgbClr val="D0E8E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82296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autonomous disease diagnosis without doctor approval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cross-hospital automatic data transfer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payroll or pharmacy stock management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emergency dispatch or ambulance coordination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predictive disease analytics in current version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Language limited to English, Urdu, and Punjabi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Roles &amp; Characteristics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👨‍⚕️</a:t>
            </a:r>
          </a:p>
        </p:txBody>
      </p:sp>
      <p:sp>
        <p:nvSpPr>
          <p:cNvPr id="7" name="Text 5"/>
          <p:cNvSpPr/>
          <p:nvPr/>
        </p:nvSpPr>
        <p:spPr>
          <a:xfrm>
            <a:off x="1325880" y="987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3716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user. Manages consultations, reviews AI-generated SOAP notes, confirms and stores medical records. Requires minimal interface interruption.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337560"/>
            <a:ext cx="777240" cy="777240"/>
          </a:xfrm>
          <a:prstGeom prst="ellipse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🏥</a:t>
            </a:r>
          </a:p>
        </p:txBody>
      </p:sp>
      <p:sp>
        <p:nvSpPr>
          <p:cNvPr id="12" name="Text 10"/>
          <p:cNvSpPr/>
          <p:nvPr/>
        </p:nvSpPr>
        <p:spPr>
          <a:xfrm>
            <a:off x="1325880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338328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 accounts, monitors data flow, generates analytical reports, and ensures system compliance and security.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1325880"/>
            <a:ext cx="777240" cy="7772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📋</a:t>
            </a:r>
          </a:p>
        </p:txBody>
      </p:sp>
      <p:sp>
        <p:nvSpPr>
          <p:cNvPr id="17" name="Text 15"/>
          <p:cNvSpPr/>
          <p:nvPr/>
        </p:nvSpPr>
        <p:spPr>
          <a:xfrm>
            <a:off x="5760720" y="987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Receptionist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60720" y="13716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one doctor. Handles patient registration, appointment scheduling, queue management, and check-ins.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337560"/>
            <a:ext cx="777240" cy="777240"/>
          </a:xfrm>
          <a:prstGeom prst="ellipse">
            <a:avLst/>
          </a:prstGeom>
          <a:solidFill>
            <a:srgbClr val="6B4FAA"/>
          </a:solidFill>
          <a:ln w="12700">
            <a:solidFill>
              <a:srgbClr val="6B4F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🙍🏻‍♂️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760720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760720" y="338328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user. Accesses visit history, prescriptions, and reports through patient portal. Staff can assist non-technical patients.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1265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 Consultation Session 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15819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9144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Session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13990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fullscreen session modal; loads patient history &amp; SOAP template; requests mic permission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01952" y="1664208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9112" y="804672"/>
            <a:ext cx="15819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914400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30552" y="182880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Conversation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30552" y="2331720"/>
            <a:ext cx="13990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captured in real time; 'Recording…' pulse indicator; stop to save audio blob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21024" y="1664208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58184" y="804672"/>
            <a:ext cx="15819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42232" y="9144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42232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9624" y="182880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Processing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9624" y="2331720"/>
            <a:ext cx="13990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 err="1" smtClean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</a:t>
            </a:r>
            <a:r>
              <a:rPr lang="en-US" sz="1200" dirty="0" smtClean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converts </a:t>
            </a:r>
            <a:r>
              <a:rPr lang="en-US" sz="12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to text; </a:t>
            </a:r>
            <a:r>
              <a:rPr lang="en-US" sz="1200" dirty="0" smtClean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AI GPT 4.1 </a:t>
            </a:r>
            <a:r>
              <a:rPr lang="en-US" sz="12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symptoms, diagnosis, medications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40096" y="1664208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77256" y="804672"/>
            <a:ext cx="15819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61304" y="914400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61304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68696" y="182880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SOAP Notes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68696" y="2331720"/>
            <a:ext cx="13990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summary displayed; doctor can edit fields; unsaved changes are highlighted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59168" y="1664208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96328" y="804672"/>
            <a:ext cx="15819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80376" y="9144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0376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87768" y="182880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 &amp; Store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87768" y="2331720"/>
            <a:ext cx="13990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notes + audio uploaded; appointment marked 'Completed'; records saved to PostgreSQL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387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Environment &amp; System Constraints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10972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86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Web-Based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via Chrome, Edge, Firefox on desktop or mobile devices.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28800"/>
            <a:ext cx="10972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Hosting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214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infrastructure for high availability, backups, and scalability.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788920"/>
            <a:ext cx="10972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07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Needs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081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8 GB RAM, stable internet. Django backend + ReactJS frontend.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74904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749040"/>
            <a:ext cx="10972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&amp; APIs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041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for data. REST APIs for AI, NLP, and auth integration.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86868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868680"/>
            <a:ext cx="10972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886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Constraint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11612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Whisper AI &amp; spaCy APIs; service interruptions affect accuracy.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182880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1828800"/>
            <a:ext cx="10972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 Constraint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21214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</a:t>
            </a:r>
            <a:r>
              <a:rPr lang="en-US" sz="1200" dirty="0" smtClean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&amp; Urdu only</a:t>
            </a: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Accents/dialects may reduce accuracy.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278892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2788920"/>
            <a:ext cx="10972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2807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&amp; Legal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3081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HIPAA-equivalent compliance required. Consent needed for recordings.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374904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2040" y="3749040"/>
            <a:ext cx="10972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74920" y="4041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noise in busy hospitals can reduce transcription accuracy.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6400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Registration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2252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Staff-verified registration with unique hospital ID assignment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6400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229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9144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Appointment Scheduling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2252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First-come-first-serve booking with real-time queue tracking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187452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874520"/>
            <a:ext cx="64008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8745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19659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Electronic Medical Records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27685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centralized storage of diagnoses &amp; treatment histories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87452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874520"/>
            <a:ext cx="64008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8745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19659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Billing &amp; Payment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27685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bills; JazzCash / Easypaisa online payment support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26080"/>
            <a:ext cx="6400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9260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30175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Auth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32841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RBAC for Admin, Doctor, Receptionist, Patient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26080"/>
            <a:ext cx="6400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9260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0" y="30175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&amp; Reports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332841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dashboards; PDF export of hospital analytics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397764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977640"/>
            <a:ext cx="64008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9776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51560" y="4069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 &amp; Alerts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51560" y="437997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reminders, billing alerts via dashboard notifications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397764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977640"/>
            <a:ext cx="64008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9776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0" y="4069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&amp; Recovery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0" y="437997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automated backups; admin-triggered data restoration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1265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Non-Functional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18848"/>
            <a:ext cx="4069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0690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retrieved in &lt; 20 sec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scheduled in &lt; 5 sec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100 concurrent users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loads in &lt; 6 sec on hospital network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880360"/>
            <a:ext cx="4069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880360"/>
            <a:ext cx="4069080" cy="38404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803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19272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unauthorized modification of records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automatic data backups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Auto-recovery on server crash / power outage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messages for invalid operations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069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04672"/>
            <a:ext cx="406908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8046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243584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encryption at rest &amp; in transit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of all user activities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 for inactive users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069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4069080" cy="384048"/>
          </a:xfrm>
          <a:prstGeom prst="rect">
            <a:avLst/>
          </a:prstGeom>
          <a:solidFill>
            <a:srgbClr val="6B4FAA"/>
          </a:solidFill>
          <a:ln w="12700">
            <a:solidFill>
              <a:srgbClr val="6B4F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8803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319272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 for all roles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guide for config &amp; maintenance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guide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In-system help tooltips &amp; FAQs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Cases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822960" cy="7589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850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AI-Assisted Medical Documentation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1521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Actor(s): Doctors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877824"/>
            <a:ext cx="18288" cy="612648"/>
          </a:xfrm>
          <a:prstGeom prst="rect">
            <a:avLst/>
          </a:prstGeom>
          <a:solidFill>
            <a:srgbClr val="D0E8E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850392"/>
            <a:ext cx="4251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starts session → AI captures conversation → NLP extracts key info → Doctor reviews &amp; confirms → Records saved to database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655064"/>
            <a:ext cx="8503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655064"/>
            <a:ext cx="822960" cy="758952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55064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1700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Appointment &amp; Queue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0025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Actor(s): Patients, Receptionists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1728216"/>
            <a:ext cx="18288" cy="612648"/>
          </a:xfrm>
          <a:prstGeom prst="rect">
            <a:avLst/>
          </a:prstGeom>
          <a:solidFill>
            <a:srgbClr val="D0E8E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700784"/>
            <a:ext cx="4251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requests appointment → Receptionist confirms → Queue position assigned → Real-time queue updates displayed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505456"/>
            <a:ext cx="8503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505456"/>
            <a:ext cx="822960" cy="7589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505456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2551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Record Access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2852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Actor(s): Doctors, Patients, Receptionists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97680" y="2578608"/>
            <a:ext cx="18288" cy="612648"/>
          </a:xfrm>
          <a:prstGeom prst="rect">
            <a:avLst/>
          </a:prstGeom>
          <a:solidFill>
            <a:srgbClr val="D0E8E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551176"/>
            <a:ext cx="4251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 → Searches patient → Views history, prescriptions, reports → Can download PDF reports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355848"/>
            <a:ext cx="8503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55848"/>
            <a:ext cx="822960" cy="758952"/>
          </a:xfrm>
          <a:prstGeom prst="rect">
            <a:avLst/>
          </a:prstGeom>
          <a:solidFill>
            <a:srgbClr val="6B4FAA"/>
          </a:solidFill>
          <a:ln w="12700">
            <a:solidFill>
              <a:srgbClr val="6B4F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355848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Prescription Management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444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Actor(s): Doctors, Patients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97680" y="3429000"/>
            <a:ext cx="18288" cy="612648"/>
          </a:xfrm>
          <a:prstGeom prst="rect">
            <a:avLst/>
          </a:prstGeom>
          <a:solidFill>
            <a:srgbClr val="D0E8E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3401568"/>
            <a:ext cx="4251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creates/updates prescription → Stored in database → Patient accesses digital prescription via portal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4206240"/>
            <a:ext cx="8503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206240"/>
            <a:ext cx="822960" cy="758952"/>
          </a:xfrm>
          <a:prstGeom prst="rect">
            <a:avLst/>
          </a:prstGeom>
          <a:solidFill>
            <a:srgbClr val="C05A2A"/>
          </a:solidFill>
          <a:ln w="12700">
            <a:solidFill>
              <a:srgbClr val="C05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20624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3444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Communication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34440" y="4553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Actor(s): All User Roles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97680" y="4279392"/>
            <a:ext cx="18288" cy="612648"/>
          </a:xfrm>
          <a:prstGeom prst="rect">
            <a:avLst/>
          </a:prstGeom>
          <a:solidFill>
            <a:srgbClr val="D0E8E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4251960"/>
            <a:ext cx="4251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send healthcare messages → System delivers securely → Dashboard alerts for appointments &amp; billing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1645920" cy="7498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48840" y="941832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  |  HTML5  |  CSS3  |  Tailwind CSS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55064"/>
            <a:ext cx="164592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55064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8840" y="1792224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(Python)  |  Django REST Framework  |  Cookie-Based Auth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50545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05456"/>
            <a:ext cx="1645920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05456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&amp; Storage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48840" y="2642616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|  Cloud / Local Storage  |  CSV Export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35584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355848"/>
            <a:ext cx="1645920" cy="74980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355848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</a:t>
            </a:r>
            <a:r>
              <a:rPr lang="en-US" sz="1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</a:t>
            </a: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3493008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 smtClean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</a:t>
            </a:r>
            <a:r>
              <a:rPr lang="en-US" sz="1200" dirty="0" smtClean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OPEN AI GPT 4.1| 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2062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206240"/>
            <a:ext cx="1645920" cy="749808"/>
          </a:xfrm>
          <a:prstGeom prst="rect">
            <a:avLst/>
          </a:prstGeom>
          <a:solidFill>
            <a:srgbClr val="6B4FAA"/>
          </a:solidFill>
          <a:ln w="12700">
            <a:solidFill>
              <a:srgbClr val="6B4F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20624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&amp; Tools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48840" y="4343400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 |  Netlify (Frontend)  |  Linux Server (Backend)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1645920" cy="1325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8288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(Browser)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828800"/>
            <a:ext cx="1645920" cy="13258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18288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ReactJS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1828800"/>
            <a:ext cx="1645920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0" y="18288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Django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DRF APIs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828800"/>
            <a:ext cx="1645920" cy="132588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18288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3474720"/>
            <a:ext cx="1645920" cy="1325880"/>
          </a:xfrm>
          <a:prstGeom prst="rect">
            <a:avLst/>
          </a:prstGeom>
          <a:solidFill>
            <a:srgbClr val="6B4FAA"/>
          </a:solidFill>
          <a:ln w="12700">
            <a:solidFill>
              <a:srgbClr val="6B4FA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1920" y="347472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Voice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2496312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2496312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2496312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154680"/>
            <a:ext cx="0" cy="3200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804672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ReactJS frontend provides role-based dashboards communicating via REST APIs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543800" y="1655064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Django backend handles business logic, RBAC, AI documentation, and DB operations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543800" y="2505456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stores all patient records, appointments, prescriptions, and logs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543800" y="3355848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/ Voice modules process speech-to-text and NLP for structured medical notes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43800" y="4206240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SMTP / email APIs support notifications and appointment alerts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406640" y="794536"/>
            <a:ext cx="1600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82296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ReactJS frontend provides role-based dashboards communicating via REST APIs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177524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Django backend handles business logic, RBAC, AI documentation, and DB operations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254497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stores all patient records, appointments, prescriptions, and logs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3316011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/ Voice modules process speech-to-text and NLP for structured medical notes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4184691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SMTP / email APIs support notifications and appointment alerts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1265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Module Implementations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10972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86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Consultation &amp; Documentation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capture → </a:t>
            </a:r>
            <a:r>
              <a:rPr lang="en-US" sz="1200" dirty="0" err="1" smtClean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</a:t>
            </a:r>
            <a:r>
              <a:rPr lang="en-US" sz="1200" dirty="0" smtClean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 AI GPT </a:t>
            </a: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SOAP note generation → Doctor confirmation → PostgreSQL storage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28800"/>
            <a:ext cx="10972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Appointment &amp; Queue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214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book online → System assigns FCFS queue position → Real-time status updates via dashboard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788920"/>
            <a:ext cx="10972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07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Record &amp; Prescription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081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records with prescription history; downloadable PDF reports for patients and doctors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86868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868680"/>
            <a:ext cx="10972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886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 &amp; Notification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1612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healthcare messaging; appointment reminders and billing alerts via dashboard and email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182880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828800"/>
            <a:ext cx="10972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Administrative 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21214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management, doctor-receptionist assignments, analytics dashboards, billing, and activity monitoring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278892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788920"/>
            <a:ext cx="10972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807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&amp; RBAC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3081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Admin, Doctor, Receptionist, Patient; cookie-based session management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Interfaces — Dashboards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83844" y="4365744"/>
            <a:ext cx="1976312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50882" y="436574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Landing Page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695" y="114048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pic>
        <p:nvPicPr>
          <p:cNvPr id="24" name="Picture 2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242" y="1111041"/>
            <a:ext cx="5032744" cy="2893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Interfaces — Dashboards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83844" y="4365744"/>
            <a:ext cx="2505068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50882" y="436574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695" y="114048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818987"/>
            <a:ext cx="8239524" cy="3419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517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Interfaces — Dashboards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83844" y="4365744"/>
            <a:ext cx="2505068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50882" y="436574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</a:t>
            </a:r>
            <a:r>
              <a:rPr lang="en-US" sz="1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695" y="114048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58" y="801389"/>
            <a:ext cx="8586071" cy="32956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5135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Interfaces — Dashboards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83844" y="4365744"/>
            <a:ext cx="3001254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50882" y="436574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Receptionist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695" y="114048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75" y="758078"/>
            <a:ext cx="8706574" cy="35445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126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Interfaces — Dashboards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83844" y="4365744"/>
            <a:ext cx="2334947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50882" y="436574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r>
              <a:rPr lang="en-US" sz="1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695" y="114048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10" y="812349"/>
            <a:ext cx="8574730" cy="32138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33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Functionality &amp; Performance Testing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Testing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335024"/>
            <a:ext cx="25237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registration, login, role access verified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and real-time queue updates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recording → transcription → SOAP note → storage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creation, access, and PDF download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804672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04672"/>
            <a:ext cx="274320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046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Testing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335024"/>
            <a:ext cx="25237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retrieval &lt; 20 sec under load testing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concurrent users simulated — no degradation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load time &lt; 6 sec on standard network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for 5,000 records &lt; 7 sec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804672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804672"/>
            <a:ext cx="2743200" cy="47548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8046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Testing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0488" y="1335024"/>
            <a:ext cx="25237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unauthorized access blocked and logged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verified for data at rest and in transit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 enforced for inactive users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and XSS protection tested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Impact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1463040"/>
          </a:xfrm>
          <a:prstGeom prst="rect">
            <a:avLst/>
          </a:prstGeom>
          <a:solidFill>
            <a:srgbClr val="0D3040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898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🎙  AI-Driven Documentation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556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data entry; SOAP notes generated automatically from doctor-patient conversations.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931920" cy="1463040"/>
          </a:xfrm>
          <a:prstGeom prst="rect">
            <a:avLst/>
          </a:prstGeom>
          <a:solidFill>
            <a:srgbClr val="0D3040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3898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  Operational Efficiency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7556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queue management and centralized records reduce waiting times and administrative load.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3931920" cy="1463040"/>
          </a:xfrm>
          <a:prstGeom prst="rect">
            <a:avLst/>
          </a:prstGeom>
          <a:solidFill>
            <a:srgbClr val="0D3040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1272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Secure &amp; Compliant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49300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SSL/TLS encryption, audit logs, and HIPAA-equivalent compliance protect patient data.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3017520"/>
            <a:ext cx="3931920" cy="1463040"/>
          </a:xfrm>
          <a:prstGeom prst="rect">
            <a:avLst/>
          </a:prstGeom>
          <a:solidFill>
            <a:srgbClr val="0D3040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31272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Scalable Architecture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49300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supports future AI enhancements and integration with additional hospital systems.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"Transforming conversations into care."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3771" y="2366470"/>
            <a:ext cx="6036458" cy="4105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i="1" dirty="0" smtClean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73031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1452</Words>
  <Application>Microsoft Office PowerPoint</Application>
  <PresentationFormat>On-screen Show (16:9)</PresentationFormat>
  <Paragraphs>277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Hospital Information Management System</dc:title>
  <dc:subject>PptxGenJS Presentation</dc:subject>
  <dc:creator>PptxGenJS</dc:creator>
  <cp:lastModifiedBy>ILLUSION</cp:lastModifiedBy>
  <cp:revision>30</cp:revision>
  <dcterms:created xsi:type="dcterms:W3CDTF">2026-05-10T11:15:10Z</dcterms:created>
  <dcterms:modified xsi:type="dcterms:W3CDTF">2026-05-20T15:18:35Z</dcterms:modified>
</cp:coreProperties>
</file>