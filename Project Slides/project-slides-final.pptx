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9" r:id="rId4"/>
    <p:sldId id="260" r:id="rId5"/>
    <p:sldId id="262" r:id="rId6"/>
    <p:sldId id="287" r:id="rId7"/>
    <p:sldId id="263" r:id="rId8"/>
    <p:sldId id="265" r:id="rId9"/>
    <p:sldId id="266" r:id="rId10"/>
    <p:sldId id="268" r:id="rId11"/>
    <p:sldId id="270" r:id="rId12"/>
    <p:sldId id="271" r:id="rId13"/>
    <p:sldId id="272" r:id="rId14"/>
    <p:sldId id="276" r:id="rId15"/>
    <p:sldId id="283" r:id="rId16"/>
    <p:sldId id="284" r:id="rId17"/>
    <p:sldId id="285" r:id="rId18"/>
    <p:sldId id="286" r:id="rId19"/>
    <p:sldId id="279" r:id="rId20"/>
    <p:sldId id="280" r:id="rId21"/>
    <p:sldId id="281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6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2573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3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983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830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740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5064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4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029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HIMS-AI-2526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Powered Hospital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 Management System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320040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17520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</a:t>
            </a:r>
          </a:p>
          <a:p>
            <a:pPr marL="0" indent="0">
              <a:buNone/>
            </a:pPr>
            <a:r>
              <a:rPr lang="en-US" sz="1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Akbar (BSCS51F22R036)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Najee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Ullah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Noon (BSCS51F22S043)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Aamir Zia  </a:t>
            </a:r>
            <a:endParaRPr lang="en-US" sz="1200" dirty="0" smtClean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Muhammad Ilyas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Date: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09-05-2026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smtClean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</a:t>
            </a:r>
            <a:r>
              <a:rPr lang="en-US" sz="1000" i="1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— Capstone Project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50292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418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91640"/>
            <a:ext cx="5029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916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76479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Description &amp; User Roles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514600"/>
            <a:ext cx="50292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51460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258775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337560"/>
            <a:ext cx="5029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33756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341071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605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4160520"/>
            <a:ext cx="50292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160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23367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46320" y="86868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868680"/>
            <a:ext cx="5029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86868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9418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Technology Stack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46320" y="16916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1691640"/>
            <a:ext cx="50292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16916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40680" y="176479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Modules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46320" y="25146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2514600"/>
            <a:ext cx="5029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251460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0680" y="258775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Documents &amp; Diagrams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3337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846320" y="3337560"/>
            <a:ext cx="50292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33756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40680" y="341071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Interfaces &amp; Dashboards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846320" y="41605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46320" y="4160520"/>
            <a:ext cx="5029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4160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440680" y="423367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References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8503920" cy="914400"/>
          </a:xfrm>
          <a:prstGeom prst="rect">
            <a:avLst/>
          </a:prstGeom>
          <a:solidFill>
            <a:srgbClr val="FFF3CD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A5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 Problem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3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face manual data entry, fragmented records, and administrative overload — leading to delays and errors in patient care.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chemeClr val="bg1"/>
                </a:solidFill>
              </a:rPr>
              <a:t>🎙</a:t>
            </a:r>
          </a:p>
        </p:txBody>
      </p:sp>
      <p:sp>
        <p:nvSpPr>
          <p:cNvPr id="10" name="Text 8"/>
          <p:cNvSpPr/>
          <p:nvPr/>
        </p:nvSpPr>
        <p:spPr>
          <a:xfrm>
            <a:off x="41148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Recording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32918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doctor-patient conversation capture &amp; transcription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063240" y="20116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 smtClean="0">
                <a:solidFill>
                  <a:schemeClr val="bg1"/>
                </a:solidFill>
              </a:rPr>
              <a:t>👨‍💻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6032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NLP Extraction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60320" y="32918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GPT-based extraction of symptoms, diagnosis &amp; medications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0" y="20116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✅</a:t>
            </a:r>
          </a:p>
        </p:txBody>
      </p:sp>
      <p:sp>
        <p:nvSpPr>
          <p:cNvPr id="20" name="Text 18"/>
          <p:cNvSpPr/>
          <p:nvPr/>
        </p:nvSpPr>
        <p:spPr>
          <a:xfrm>
            <a:off x="470916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Doctor Verification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09160" y="32918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review AI notes before they are saved to the database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874520"/>
            <a:ext cx="20116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60920" y="20116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📊</a:t>
            </a:r>
          </a:p>
        </p:txBody>
      </p:sp>
      <p:sp>
        <p:nvSpPr>
          <p:cNvPr id="25" name="Text 23"/>
          <p:cNvSpPr/>
          <p:nvPr/>
        </p:nvSpPr>
        <p:spPr>
          <a:xfrm>
            <a:off x="685800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Dashboards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32918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dashboards for Doctors, Admin, Receptionists &amp; Patients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Scope — Inclusions &amp; </a:t>
            </a:r>
            <a:r>
              <a:rPr lang="en-US" sz="22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     Exclusions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1148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AI-assisted medical note creation from doctor-patient conversations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Smart appointment &amp; real-time queue management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Controlled patient self-registration (staff-verified activation)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Centralized patient record &amp; prescription management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Integrated staff dashboards for all user roles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Secure messaging, billing, and downloadable reports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Healthcare analytics and operational insights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17720" y="822960"/>
            <a:ext cx="27432" cy="3931920"/>
          </a:xfrm>
          <a:prstGeom prst="rect">
            <a:avLst/>
          </a:prstGeom>
          <a:solidFill>
            <a:srgbClr val="D0E8EC"/>
          </a:solidFill>
          <a:ln w="12700">
            <a:solidFill>
              <a:srgbClr val="D0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0" y="822960"/>
            <a:ext cx="41148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No autonomous disease diagnosis without doctor approval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No cross-hospital automatic data transfer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No payroll or pharmacy stock management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No emergency dispatch or ambulance coordination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No predictive disease analytics in current version</a:t>
            </a:r>
            <a:endParaRPr lang="en-US" sz="1400" dirty="0"/>
          </a:p>
          <a:p>
            <a:pPr>
              <a:buSzPct val="100000"/>
            </a:pPr>
            <a:r>
              <a:rPr lang="en-US" sz="14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Language limited to English, Urdu, and Punjabi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Roles &amp; Characteristics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25880"/>
            <a:ext cx="777240" cy="7772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👨‍⚕️</a:t>
            </a:r>
          </a:p>
        </p:txBody>
      </p:sp>
      <p:sp>
        <p:nvSpPr>
          <p:cNvPr id="7" name="Text 5"/>
          <p:cNvSpPr/>
          <p:nvPr/>
        </p:nvSpPr>
        <p:spPr>
          <a:xfrm>
            <a:off x="1325880" y="987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3716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user. Manages consultations, reviews AI-generated SOAP notes, confirms and stores medical records. Requires minimal interface interruption.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283464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337560"/>
            <a:ext cx="777240" cy="777240"/>
          </a:xfrm>
          <a:prstGeom prst="ellipse">
            <a:avLst/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🏥</a:t>
            </a:r>
          </a:p>
        </p:txBody>
      </p:sp>
      <p:sp>
        <p:nvSpPr>
          <p:cNvPr id="12" name="Text 10"/>
          <p:cNvSpPr/>
          <p:nvPr/>
        </p:nvSpPr>
        <p:spPr>
          <a:xfrm>
            <a:off x="1325880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5F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338328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user accounts, monitors data flow, generates analytical reports, and ensures system compliance and security.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82296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325880"/>
            <a:ext cx="777240" cy="7772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325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📋</a:t>
            </a:r>
          </a:p>
        </p:txBody>
      </p:sp>
      <p:sp>
        <p:nvSpPr>
          <p:cNvPr id="17" name="Text 15"/>
          <p:cNvSpPr/>
          <p:nvPr/>
        </p:nvSpPr>
        <p:spPr>
          <a:xfrm>
            <a:off x="5760720" y="987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Receptionist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60720" y="13716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 one doctor. Handles patient registration, appointment scheduling, queue management, and check-ins.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83464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3337560"/>
            <a:ext cx="777240" cy="777240"/>
          </a:xfrm>
          <a:prstGeom prst="ellipse">
            <a:avLst/>
          </a:prstGeom>
          <a:solidFill>
            <a:srgbClr val="6B4FAA"/>
          </a:solidFill>
          <a:ln w="12700">
            <a:solidFill>
              <a:srgbClr val="6B4F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337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 smtClean="0">
                <a:solidFill>
                  <a:schemeClr val="bg1"/>
                </a:solidFill>
              </a:rPr>
              <a:t>🙍🏻‍♂️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5760720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4F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60720" y="338328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user. Accesses visit history, prescriptions, and reports through patient portal. Staff can assist non-technical patients.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21265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Doctor Consultation Session Flow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158191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91440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Session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331720"/>
            <a:ext cx="139903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fullscreen session modal; loads patient history &amp; SOAP template; requests mic permission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01952" y="1664208"/>
            <a:ext cx="1371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39112" y="804672"/>
            <a:ext cx="158191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23160" y="914400"/>
            <a:ext cx="822960" cy="8229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30552" y="182880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 Conversation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30552" y="2331720"/>
            <a:ext cx="139903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captured in real time; 'Recording…' pulse indicator; stop to save audio blob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21024" y="1664208"/>
            <a:ext cx="1371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58184" y="804672"/>
            <a:ext cx="158191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42232" y="91440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42232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9624" y="182880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Processing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9624" y="2331720"/>
            <a:ext cx="139903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 err="1" smtClean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Deepgram</a:t>
            </a:r>
            <a:r>
              <a:rPr lang="en-US" sz="1200" dirty="0" smtClean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</a:t>
            </a: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to text; </a:t>
            </a:r>
            <a:r>
              <a:rPr lang="en-US" sz="1200" dirty="0" smtClean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AI GPT 4.1 </a:t>
            </a: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symptoms, diagnosis, medications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40096" y="1664208"/>
            <a:ext cx="1371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77256" y="804672"/>
            <a:ext cx="158191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61304" y="914400"/>
            <a:ext cx="822960" cy="8229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68696" y="182880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SOAP Notes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68696" y="2331720"/>
            <a:ext cx="139903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summary displayed; doctor can edit fields; unsaved changes are highlighted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59168" y="1664208"/>
            <a:ext cx="1371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96328" y="804672"/>
            <a:ext cx="158191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80376" y="91440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0376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287768" y="182880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 &amp; Store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287768" y="2331720"/>
            <a:ext cx="139903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notes + audio uploaded; appointment marked 'Completed'; records saved to PostgreSQL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53872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Environment &amp; System Constraints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10972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86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Web-Based Platform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1612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via Chrome, Edge, Firefox on desktop or mobile devices.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828800"/>
            <a:ext cx="10972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47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Hosting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1214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cloud infrastructure for high availability, backups, and scalability.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78892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788920"/>
            <a:ext cx="10972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07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Needs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081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8 GB RAM, stable internet. Django backend + ReactJS frontend.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74904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49040"/>
            <a:ext cx="10972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 &amp; APIs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041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for data. REST APIs for AI, NLP, and auth integration.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92040" y="86868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868680"/>
            <a:ext cx="10972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886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 Constraint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74920" y="11612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</a:t>
            </a:r>
            <a:r>
              <a:rPr lang="en-US" sz="1200" dirty="0" err="1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Deegram</a:t>
            </a:r>
            <a:r>
              <a:rPr lang="en-US" sz="1200" dirty="0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OPENAI GPT 4.1; </a:t>
            </a: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interruptions affect accuracy.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182880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828800"/>
            <a:ext cx="10972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847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Language Constraint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74920" y="21214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</a:t>
            </a:r>
            <a:r>
              <a:rPr lang="en-US" sz="1200" dirty="0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&amp; Urdu only</a:t>
            </a: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Accents/dialects may reduce accuracy.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92040" y="278892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92040" y="2788920"/>
            <a:ext cx="10972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2807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Privacy &amp; Legal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74920" y="3081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HIPAA-equivalent compliance required. Consent needed for recordings.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92040" y="374904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92040" y="3749040"/>
            <a:ext cx="10972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74920" y="4041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noise in busy hospitals can reduce transcription accuracy.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 Requirements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64008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Registration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2252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Staff-verified registration with unique hospital ID assignment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22960"/>
            <a:ext cx="64008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8229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9144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Appointment Scheduling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12252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First-come-first-serve booking with real-time queue tracking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87452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1874520"/>
            <a:ext cx="64008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8745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19659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Electronic Medical Records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227685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centralized storage of diagnoses &amp; treatment histories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187452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874520"/>
            <a:ext cx="64008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18745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19659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Billing &amp; Payment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227685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bills; JazzCash / Easypaisa online payment support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292608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" y="2926080"/>
            <a:ext cx="64008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9260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" y="301752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Role-Based Auth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32841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 with RBAC for Admin, Doctor, Receptionist, Patient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292608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2926080"/>
            <a:ext cx="64008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29260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0" y="301752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 &amp; Reports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0" y="332841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dashboards; PDF export of hospital analytics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" y="397764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977640"/>
            <a:ext cx="64008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39776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51560" y="40690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Notifications &amp; Alerts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51560" y="437997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reminders, billing alerts via dashboard notifications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754880" y="397764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54880" y="3977640"/>
            <a:ext cx="640080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39776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0" y="40690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&amp; Recovery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0" y="437997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automated backups; admin-triggered data restoration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21265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Non-Functional Requirements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18848"/>
            <a:ext cx="4069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04672"/>
            <a:ext cx="406908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0467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43584"/>
            <a:ext cx="37947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 retrieved in &lt; 20 sec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scheduled in &lt; 5 sec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100 concurrent users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loads in &lt; 6 sec on hospital network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880360"/>
            <a:ext cx="4069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880360"/>
            <a:ext cx="4069080" cy="384048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8803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319272"/>
            <a:ext cx="37947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unauthorized modification of records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automatic data backups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Auto-recovery on server crash / power outage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messages for invalid operations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804672"/>
            <a:ext cx="4069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804672"/>
            <a:ext cx="406908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80467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243584"/>
            <a:ext cx="37947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SSL/TLS encryption at rest &amp; in transit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of all user activities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timeout for inactive users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880360"/>
            <a:ext cx="4069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80360"/>
            <a:ext cx="4069080" cy="384048"/>
          </a:xfrm>
          <a:prstGeom prst="rect">
            <a:avLst/>
          </a:prstGeom>
          <a:solidFill>
            <a:srgbClr val="6B4FAA"/>
          </a:solidFill>
          <a:ln w="12700">
            <a:solidFill>
              <a:srgbClr val="6B4F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28803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3319272"/>
            <a:ext cx="37947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manual for all roles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guide for config &amp; maintenance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guide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In-system help tooltips &amp; FAQs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Cases Overview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85039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04672"/>
            <a:ext cx="822960" cy="7589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04672"/>
            <a:ext cx="822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34440" y="850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Medical Documentation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1521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Actor(s): Doctors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877824"/>
            <a:ext cx="18288" cy="612648"/>
          </a:xfrm>
          <a:prstGeom prst="rect">
            <a:avLst/>
          </a:prstGeom>
          <a:solidFill>
            <a:srgbClr val="D0E8EC"/>
          </a:solidFill>
          <a:ln w="12700">
            <a:solidFill>
              <a:srgbClr val="D0E8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850392"/>
            <a:ext cx="4251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starts session → AI captures conversation → NLP extracts key info → Doctor reviews &amp; confirms → Records saved to database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1655064"/>
            <a:ext cx="85039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655064"/>
            <a:ext cx="822960" cy="758952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655064"/>
            <a:ext cx="822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1700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Appointment &amp; Queue Management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34440" y="20025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Actor(s): Patients, Receptionists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1728216"/>
            <a:ext cx="18288" cy="612648"/>
          </a:xfrm>
          <a:prstGeom prst="rect">
            <a:avLst/>
          </a:prstGeom>
          <a:solidFill>
            <a:srgbClr val="D0E8EC"/>
          </a:solidFill>
          <a:ln w="12700">
            <a:solidFill>
              <a:srgbClr val="D0E8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1700784"/>
            <a:ext cx="4251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requests appointment → Receptionist confirms → Queue position assigned → Real-time queue updates displayed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2505456"/>
            <a:ext cx="85039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505456"/>
            <a:ext cx="822960" cy="7589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505456"/>
            <a:ext cx="822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3444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Record Access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34440" y="2852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Actor(s): Doctors, Patients, Receptionists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97680" y="2578608"/>
            <a:ext cx="18288" cy="612648"/>
          </a:xfrm>
          <a:prstGeom prst="rect">
            <a:avLst/>
          </a:prstGeom>
          <a:solidFill>
            <a:srgbClr val="D0E8EC"/>
          </a:solidFill>
          <a:ln w="12700">
            <a:solidFill>
              <a:srgbClr val="D0E8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2551176"/>
            <a:ext cx="4251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logs in → Searches patient → Views history, prescriptions, reports → Can download PDF reports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3355848"/>
            <a:ext cx="85039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355848"/>
            <a:ext cx="822960" cy="758952"/>
          </a:xfrm>
          <a:prstGeom prst="rect">
            <a:avLst/>
          </a:prstGeom>
          <a:solidFill>
            <a:srgbClr val="6B4FAA"/>
          </a:solidFill>
          <a:ln w="12700">
            <a:solidFill>
              <a:srgbClr val="6B4F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355848"/>
            <a:ext cx="822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34440" y="34015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 Management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344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Actor(s): Doctors, Patients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97680" y="3429000"/>
            <a:ext cx="18288" cy="612648"/>
          </a:xfrm>
          <a:prstGeom prst="rect">
            <a:avLst/>
          </a:prstGeom>
          <a:solidFill>
            <a:srgbClr val="D0E8EC"/>
          </a:solidFill>
          <a:ln w="12700">
            <a:solidFill>
              <a:srgbClr val="D0E8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34840" y="3401568"/>
            <a:ext cx="4251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creates/updates prescription → Stored in database → Patient accesses digital prescription via portal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0040" y="4206240"/>
            <a:ext cx="85039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" y="4206240"/>
            <a:ext cx="822960" cy="758952"/>
          </a:xfrm>
          <a:prstGeom prst="rect">
            <a:avLst/>
          </a:prstGeom>
          <a:solidFill>
            <a:srgbClr val="C05A2A"/>
          </a:solidFill>
          <a:ln w="12700">
            <a:solidFill>
              <a:srgbClr val="C05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206240"/>
            <a:ext cx="822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2344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 Communication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234440" y="45537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Actor(s): All User Roles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97680" y="4279392"/>
            <a:ext cx="18288" cy="612648"/>
          </a:xfrm>
          <a:prstGeom prst="rect">
            <a:avLst/>
          </a:prstGeom>
          <a:solidFill>
            <a:srgbClr val="D0E8EC"/>
          </a:solidFill>
          <a:ln w="12700">
            <a:solidFill>
              <a:srgbClr val="D0E8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4840" y="4251960"/>
            <a:ext cx="4251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send healthcare messages → System delivers securely → Dashboard alerts for appointments &amp; billing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04672"/>
            <a:ext cx="1645920" cy="74980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04672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48840" y="941832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ReactJS  |  HTML5  |  CSS3  |  Tailwind CSS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655064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655064"/>
            <a:ext cx="1645920" cy="7498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655064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48840" y="1792224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(Python)  |  Django REST Framework  |  Cookie-Based Auth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505456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505456"/>
            <a:ext cx="1645920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505456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 &amp; Storage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48840" y="2642616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|  Cloud / Local Storage  |  </a:t>
            </a:r>
            <a:r>
              <a:rPr lang="en-US" sz="1200" dirty="0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</a:t>
            </a: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355848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355848"/>
            <a:ext cx="1645920" cy="749808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355848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</a:t>
            </a:r>
            <a:r>
              <a:rPr lang="en-US" sz="12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</a:t>
            </a: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48840" y="3493008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Deepgram</a:t>
            </a:r>
            <a:r>
              <a:rPr lang="en-US" sz="1200" dirty="0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OPEN AI GPT 4.1| 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206240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4206240"/>
            <a:ext cx="1645920" cy="749808"/>
          </a:xfrm>
          <a:prstGeom prst="rect">
            <a:avLst/>
          </a:prstGeom>
          <a:solidFill>
            <a:srgbClr val="6B4FAA"/>
          </a:solidFill>
          <a:ln w="12700">
            <a:solidFill>
              <a:srgbClr val="6B4F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206240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&amp; Tools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48840" y="4343400"/>
            <a:ext cx="6537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  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828800"/>
            <a:ext cx="1645920" cy="13258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8288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(Browser)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03120" y="1828800"/>
            <a:ext cx="1645920" cy="132588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103120" y="18288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ReactJS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931920" y="1828800"/>
            <a:ext cx="1645920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931920" y="18288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Django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DRF APIs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1828800"/>
            <a:ext cx="1645920" cy="1325880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760720" y="18288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PostgreSQL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0" y="3474720"/>
            <a:ext cx="1645920" cy="1325880"/>
          </a:xfrm>
          <a:prstGeom prst="rect">
            <a:avLst/>
          </a:prstGeom>
          <a:solidFill>
            <a:srgbClr val="6B4FAA"/>
          </a:solidFill>
          <a:ln w="12700">
            <a:solidFill>
              <a:srgbClr val="6B4FA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931920" y="347472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/ Voice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0240" y="2496312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49040" y="2496312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77840" y="2496312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3154680"/>
            <a:ext cx="0" cy="3200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43800" y="80467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ReactJS frontend provides role-based dashboards communicating via REST APIs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543800" y="1655064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Django backend handles business logic, RBAC, AI documentation, and DB operations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543800" y="2505456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PostgreSQL stores all patient records, appointments, prescriptions, and logs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543800" y="335584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/ Voice modules process speech-to-text and NLP for structured medical notes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543800" y="420624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External SMTP / email APIs support notifications and appointment alerts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406640" y="794536"/>
            <a:ext cx="16002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82296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ReactJS frontend provides role-based dashboards communicating via REST APIs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0" y="1775248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Django backend handles business logic, RBAC, AI documentation, and DB operations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98080" y="2544974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PostgreSQL stores all patient records, appointments, prescriptions, and logs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98080" y="3316011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/ Voice modules process speech-to-text and NLP for structured medical notes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0" y="4184691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External SMTP / email APIs support notifications and appointment alerts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21265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Module Implementations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10972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86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Consultation &amp; Documentation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1612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capture → </a:t>
            </a:r>
            <a:r>
              <a:rPr lang="en-US" sz="1200" dirty="0" err="1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Deepgram</a:t>
            </a:r>
            <a:r>
              <a:rPr lang="en-US" sz="1200" dirty="0" smtClean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Open AI GPT </a:t>
            </a: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SOAP note generation → Doctor confirmation → PostgreSQL storage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828800"/>
            <a:ext cx="10972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47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Appointment &amp; Queue Management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1214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book online → System assigns FCFS queue position → Real-time status updates via dashboard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78892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788920"/>
            <a:ext cx="109728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07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Record &amp; Prescription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081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records with prescription history; downloadable PDF reports for patients and doctors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92040" y="86868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92040" y="868680"/>
            <a:ext cx="10972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886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 &amp; Notification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74920" y="11612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healthcare messaging; appointment reminders and billing alerts via dashboard and email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92040" y="182880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828800"/>
            <a:ext cx="10972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1847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Administrative Dashboard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74920" y="21214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management, doctor-receptionist assignments, analytics dashboards, billing, and activity monitoring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2788920"/>
            <a:ext cx="3931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2788920"/>
            <a:ext cx="10972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2807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Authentication &amp; RBAC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74920" y="3081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for Admin, Doctor, Receptionist, Patient; cookie-based session management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Interfaces — Dashboards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83844" y="4365744"/>
            <a:ext cx="1976312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50882" y="43657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 Page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695" y="114048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pic>
        <p:nvPicPr>
          <p:cNvPr id="24" name="Picture 23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4242" y="1111041"/>
            <a:ext cx="5032744" cy="2893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Interfaces — Dashboards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83844" y="4365744"/>
            <a:ext cx="2505068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50882" y="43657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Dashboard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695" y="114048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pic>
        <p:nvPicPr>
          <p:cNvPr id="8" name="Picture 7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818987"/>
            <a:ext cx="8239524" cy="34198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95177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Interfaces — Dashboards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83844" y="4365744"/>
            <a:ext cx="2505068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50882" y="43657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Doctor Dashboard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695" y="114048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pic>
        <p:nvPicPr>
          <p:cNvPr id="9" name="Picture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58" y="801389"/>
            <a:ext cx="8586071" cy="329568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05135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Interfaces — Dashboards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83844" y="4365744"/>
            <a:ext cx="3001254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50882" y="43657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Receptionist Dashboard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695" y="114048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pic>
        <p:nvPicPr>
          <p:cNvPr id="8" name="Picture 7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775" y="758078"/>
            <a:ext cx="8706574" cy="35445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1264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Interfaces — Dashboards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83844" y="4365744"/>
            <a:ext cx="2334947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50882" y="43657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695" y="114048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pic>
        <p:nvPicPr>
          <p:cNvPr id="9" name="Picture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510" y="812349"/>
            <a:ext cx="8574730" cy="32138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331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Functionality &amp; Performance Testing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2743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04672"/>
            <a:ext cx="274320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0467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 Testing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335024"/>
            <a:ext cx="25237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registration, login, role access verified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booking and real-time queue updates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recording → transcription → SOAP note → storage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creation, access, and PDF download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804672"/>
            <a:ext cx="2743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804672"/>
            <a:ext cx="2743200" cy="47548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80467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Testing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10128" y="1335024"/>
            <a:ext cx="25237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retrieval &lt; 20 sec under load testing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concurrent users simulated — no degradation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load time &lt; 6 sec on standard network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generation for 5,000 records &lt; 7 sec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804672"/>
            <a:ext cx="2743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C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0760" y="804672"/>
            <a:ext cx="2743200" cy="475488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80467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Testing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90488" y="1335024"/>
            <a:ext cx="25237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RBAC: unauthorized access blocked and logged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verified for data at rest and in transit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timeout enforced for inactive users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and XSS protection tested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E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Impact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931920" cy="1463040"/>
          </a:xfrm>
          <a:prstGeom prst="rect">
            <a:avLst/>
          </a:prstGeom>
          <a:solidFill>
            <a:srgbClr val="0D3040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38988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🎙  AI-Driven Documentation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5564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manual data entry; SOAP notes generated automatically from doctor-patient conversations.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846320" y="1280160"/>
            <a:ext cx="3931920" cy="1463040"/>
          </a:xfrm>
          <a:prstGeom prst="rect">
            <a:avLst/>
          </a:prstGeom>
          <a:solidFill>
            <a:srgbClr val="0D3040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38988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🏥  Operational Efficiency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175564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queue management and centralized records reduce waiting times and administrative load.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3931920" cy="1463040"/>
          </a:xfrm>
          <a:prstGeom prst="rect">
            <a:avLst/>
          </a:prstGeom>
          <a:solidFill>
            <a:srgbClr val="0D3040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12724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  Secure &amp; Compliant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49300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RBAC, SSL/TLS encryption, audit logs, and HIPAA-equivalent compliance protect patient data.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46320" y="3017520"/>
            <a:ext cx="3931920" cy="1463040"/>
          </a:xfrm>
          <a:prstGeom prst="rect">
            <a:avLst/>
          </a:prstGeom>
          <a:solidFill>
            <a:srgbClr val="0D3040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312724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📈  Scalable Architecture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349300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supports future AI enhancements and integration with additional hospital systems.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66344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"Transforming conversations into care."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E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53771" y="2366470"/>
            <a:ext cx="6036458" cy="4105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i="1" dirty="0" smtClean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73031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1441</Words>
  <Application>Microsoft Office PowerPoint</Application>
  <PresentationFormat>On-screen Show (16:9)</PresentationFormat>
  <Paragraphs>277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Georgia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Powered Hospital Information Management System</dc:title>
  <dc:subject>PptxGenJS Presentation</dc:subject>
  <dc:creator>PptxGenJS</dc:creator>
  <cp:lastModifiedBy>ILLUSION</cp:lastModifiedBy>
  <cp:revision>33</cp:revision>
  <dcterms:created xsi:type="dcterms:W3CDTF">2026-05-10T11:15:10Z</dcterms:created>
  <dcterms:modified xsi:type="dcterms:W3CDTF">2026-05-23T10:39:33Z</dcterms:modified>
</cp:coreProperties>
</file>