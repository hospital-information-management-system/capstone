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1" r:id="rId1"/>
  </p:sldMasterIdLst>
  <p:sldIdLst>
    <p:sldId id="256" r:id="rId2"/>
    <p:sldId id="257" r:id="rId3"/>
    <p:sldId id="258" r:id="rId4"/>
    <p:sldId id="260" r:id="rId5"/>
    <p:sldId id="259" r:id="rId6"/>
    <p:sldId id="261" r:id="rId7"/>
    <p:sldId id="262" r:id="rId8"/>
    <p:sldId id="263" r:id="rId9"/>
    <p:sldId id="270" r:id="rId10"/>
    <p:sldId id="266" r:id="rId11"/>
    <p:sldId id="264" r:id="rId12"/>
    <p:sldId id="265"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06F"/>
    <a:srgbClr val="729D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0670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0182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30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9549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9233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2190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527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639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5256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980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9238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756653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55502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4044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8511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989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3499118"/>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Hospital-Information-Management-System/Capstone/blob/main/Project%20Design%20Document/Diagrams%20PDF/3.0%20use%20case%20diagram.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github.com/Hospital-Information-Management-System/Capstone/blob/main/Project%20Design%20Document/Diagrams%20PDF/3.1%20architecture%20diagram.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Hospital-Information-Management-System/Capstone/blob/main/Project%20Design%20Document/Diagrams%20PDF/5.2%20ER%20Diagram.pdf"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Hospital-Information-Management-System/Capstone/blob/main/Project%20Design%20Document/Diagrams%20PDF/5.4.2%20Sequence%20Diagram%20(Patient).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Hospital-Information-Management-System/Capstone/blob/main/Project%20Design%20Document/Diagrams%20PDF/5.4.3%20Sequence%20Diagram%20(Doctor).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Hospital-Information-Management-System/Capstone/blob/main/Project%20Design%20Document/Diagrams%20PDF/5.4.4%20Sequence%20Diagram%20(Receptionist).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Hospital-Information-Management-System/Capstone/blob/main/Project%20Design%20Document/Diagrams%20PDF/5.4.5%20Sequence%20Diagram%20(Admin).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970" y="1480707"/>
            <a:ext cx="7766936" cy="1646302"/>
          </a:xfrm>
        </p:spPr>
        <p:txBody>
          <a:bodyPr>
            <a:normAutofit fontScale="90000"/>
          </a:bodyPr>
          <a:lstStyle/>
          <a:p>
            <a:pPr algn="ctr"/>
            <a:r>
              <a:rPr lang="en-US" dirty="0"/>
              <a:t>AI Powered Hospital Information Management System</a:t>
            </a:r>
          </a:p>
        </p:txBody>
      </p:sp>
      <p:sp>
        <p:nvSpPr>
          <p:cNvPr id="6" name="Rectangle 5"/>
          <p:cNvSpPr/>
          <p:nvPr/>
        </p:nvSpPr>
        <p:spPr>
          <a:xfrm>
            <a:off x="1993741" y="3554700"/>
            <a:ext cx="6622357" cy="2308324"/>
          </a:xfrm>
          <a:prstGeom prst="rect">
            <a:avLst/>
          </a:prstGeom>
        </p:spPr>
        <p:txBody>
          <a:bodyPr wrap="square">
            <a:spAutoFit/>
          </a:bodyPr>
          <a:lstStyle/>
          <a:p>
            <a:r>
              <a:rPr lang="en-US" sz="2400" dirty="0">
                <a:solidFill>
                  <a:srgbClr val="0C406F"/>
                </a:solidFill>
              </a:rPr>
              <a:t>Project Code: </a:t>
            </a:r>
            <a:r>
              <a:rPr lang="en-US" sz="2400" dirty="0">
                <a:latin typeface="Aptos Display" panose="020B0004020202020204" pitchFamily="34" charset="0"/>
              </a:rPr>
              <a:t>HIMS-AI-2526</a:t>
            </a:r>
          </a:p>
          <a:p>
            <a:r>
              <a:rPr lang="en-US" sz="2400" dirty="0">
                <a:solidFill>
                  <a:srgbClr val="0C406F"/>
                </a:solidFill>
              </a:rPr>
              <a:t>Internal Advisor: </a:t>
            </a:r>
            <a:r>
              <a:rPr lang="en-US" sz="2400" dirty="0">
                <a:latin typeface="Aptos Display" panose="020B0004020202020204" pitchFamily="34" charset="0"/>
              </a:rPr>
              <a:t>Mr. </a:t>
            </a:r>
            <a:r>
              <a:rPr lang="en-US" sz="2400" dirty="0" err="1">
                <a:latin typeface="Aptos Display" panose="020B0004020202020204" pitchFamily="34" charset="0"/>
              </a:rPr>
              <a:t>Aamir</a:t>
            </a:r>
            <a:r>
              <a:rPr lang="en-US" sz="2400" dirty="0">
                <a:latin typeface="Aptos Display" panose="020B0004020202020204" pitchFamily="34" charset="0"/>
              </a:rPr>
              <a:t> Zia</a:t>
            </a:r>
          </a:p>
          <a:p>
            <a:r>
              <a:rPr lang="en-US" sz="2400" dirty="0">
                <a:solidFill>
                  <a:srgbClr val="0C406F"/>
                </a:solidFill>
              </a:rPr>
              <a:t>Project Manager: </a:t>
            </a:r>
            <a:r>
              <a:rPr lang="en-US" sz="2400" dirty="0">
                <a:latin typeface="Aptos Display" panose="020B0004020202020204" pitchFamily="34" charset="0"/>
              </a:rPr>
              <a:t>Dr. Muhammad </a:t>
            </a:r>
            <a:r>
              <a:rPr lang="en-US" sz="2400" dirty="0" err="1">
                <a:latin typeface="Aptos Display" panose="020B0004020202020204" pitchFamily="34" charset="0"/>
              </a:rPr>
              <a:t>Ilyas</a:t>
            </a:r>
            <a:r>
              <a:rPr lang="en-US" sz="2400" dirty="0">
                <a:latin typeface="Aptos Display" panose="020B0004020202020204" pitchFamily="34" charset="0"/>
              </a:rPr>
              <a:t> </a:t>
            </a:r>
          </a:p>
          <a:p>
            <a:r>
              <a:rPr lang="en-US" sz="2400" dirty="0">
                <a:solidFill>
                  <a:srgbClr val="0C406F"/>
                </a:solidFill>
              </a:rPr>
              <a:t>Project Team: </a:t>
            </a:r>
          </a:p>
          <a:p>
            <a:r>
              <a:rPr lang="en-US" sz="2400" dirty="0">
                <a:latin typeface="Aptos Display" panose="020B0004020202020204" pitchFamily="34" charset="0"/>
              </a:rPr>
              <a:t>Ali Akbar </a:t>
            </a:r>
            <a:r>
              <a:rPr lang="en-US" sz="2400" dirty="0">
                <a:solidFill>
                  <a:srgbClr val="0C406F"/>
                </a:solidFill>
                <a:latin typeface="Aptos Display" panose="020B0004020202020204" pitchFamily="34" charset="0"/>
              </a:rPr>
              <a:t>BSCS51F22R036 (TL) </a:t>
            </a:r>
          </a:p>
          <a:p>
            <a:r>
              <a:rPr lang="en-US" sz="2400" dirty="0">
                <a:latin typeface="Aptos Display" panose="020B0004020202020204" pitchFamily="34" charset="0"/>
              </a:rPr>
              <a:t>Muhammad Najee </a:t>
            </a:r>
            <a:r>
              <a:rPr lang="en-US" sz="2400" dirty="0" err="1">
                <a:latin typeface="Aptos Display" panose="020B0004020202020204" pitchFamily="34" charset="0"/>
              </a:rPr>
              <a:t>Ullah</a:t>
            </a:r>
            <a:r>
              <a:rPr lang="en-US" sz="2400" dirty="0">
                <a:latin typeface="Aptos Display" panose="020B0004020202020204" pitchFamily="34" charset="0"/>
              </a:rPr>
              <a:t> Noon </a:t>
            </a:r>
            <a:r>
              <a:rPr lang="en-US" sz="2400" dirty="0">
                <a:solidFill>
                  <a:srgbClr val="0C406F"/>
                </a:solidFill>
                <a:latin typeface="Aptos Display" panose="020B0004020202020204" pitchFamily="34" charset="0"/>
              </a:rPr>
              <a:t>BSCS51F22S043</a:t>
            </a:r>
          </a:p>
        </p:txBody>
      </p:sp>
    </p:spTree>
    <p:extLst>
      <p:ext uri="{BB962C8B-B14F-4D97-AF65-F5344CB8AC3E}">
        <p14:creationId xmlns:p14="http://schemas.microsoft.com/office/powerpoint/2010/main" val="3804073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Overview</a:t>
            </a:r>
          </a:p>
        </p:txBody>
      </p:sp>
      <p:sp>
        <p:nvSpPr>
          <p:cNvPr id="3" name="Content Placeholder 2"/>
          <p:cNvSpPr>
            <a:spLocks noGrp="1"/>
          </p:cNvSpPr>
          <p:nvPr>
            <p:ph idx="1"/>
          </p:nvPr>
        </p:nvSpPr>
        <p:spPr>
          <a:xfrm>
            <a:off x="564212" y="1406445"/>
            <a:ext cx="8596668" cy="3880773"/>
          </a:xfrm>
        </p:spPr>
        <p:txBody>
          <a:bodyPr>
            <a:noAutofit/>
          </a:bodyPr>
          <a:lstStyle/>
          <a:p>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Modern hospitals often struggle with inefficiencies caused by manual data entry, fragmented record-keeping, and time-consuming administrative processes. These challenges lead to delays in patient care, errors in documentation and increased workload on medical staff. To address these issues, the AI-Powered Hospital Information Management System (HIMS) is proposed as an intelligent, automated platform that integrates speech recognition and natural language processing to streamline hospital workflows. The system functions as follows:</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1. AI-Based Conversation Recording and Analysis: </a:t>
            </a:r>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The system listens to doctor–patient interactions in real time, identifies the speaker, and extracts key medical information such as symptoms, diagnosis, prescribed treatments, and follow-up details.</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4945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Overview</a:t>
            </a:r>
          </a:p>
        </p:txBody>
      </p:sp>
      <p:sp>
        <p:nvSpPr>
          <p:cNvPr id="3" name="Content Placeholder 2"/>
          <p:cNvSpPr>
            <a:spLocks noGrp="1"/>
          </p:cNvSpPr>
          <p:nvPr>
            <p:ph idx="1"/>
          </p:nvPr>
        </p:nvSpPr>
        <p:spPr>
          <a:xfrm>
            <a:off x="564212" y="1406445"/>
            <a:ext cx="8596668" cy="3880773"/>
          </a:xfrm>
        </p:spPr>
        <p:txBody>
          <a:bodyPr>
            <a:noAutofit/>
          </a:bodyPr>
          <a:lstStyle/>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2. Doctor Confirmation and Data Storage: </a:t>
            </a:r>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Before saving, the extracted data is displayed to the doctor for verification. Once confirmed, it is automatically stored in a centralized hospital database.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3. Dedicated Dashboards:  </a:t>
            </a:r>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Uses dedicated separate dashboards for doctor, patient, receptionist, and admin.</a:t>
            </a:r>
          </a:p>
        </p:txBody>
      </p:sp>
    </p:spTree>
    <p:extLst>
      <p:ext uri="{BB962C8B-B14F-4D97-AF65-F5344CB8AC3E}">
        <p14:creationId xmlns:p14="http://schemas.microsoft.com/office/powerpoint/2010/main" val="182146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Overview</a:t>
            </a:r>
          </a:p>
        </p:txBody>
      </p:sp>
      <p:sp>
        <p:nvSpPr>
          <p:cNvPr id="3" name="Content Placeholder 2"/>
          <p:cNvSpPr>
            <a:spLocks noGrp="1"/>
          </p:cNvSpPr>
          <p:nvPr>
            <p:ph idx="1"/>
          </p:nvPr>
        </p:nvSpPr>
        <p:spPr>
          <a:xfrm>
            <a:off x="564212" y="1406445"/>
            <a:ext cx="8596668" cy="3880773"/>
          </a:xfrm>
        </p:spPr>
        <p:txBody>
          <a:bodyPr>
            <a:noAutofit/>
          </a:bodyPr>
          <a:lstStyle/>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Doctor Dashboard: </a:t>
            </a:r>
            <a:r>
              <a:rPr lang="en-GB" sz="2400" dirty="0">
                <a:latin typeface="Calibri" panose="020F0502020204030204" pitchFamily="34" charset="0"/>
                <a:ea typeface="Calibri" panose="020F0502020204030204" pitchFamily="34" charset="0"/>
                <a:cs typeface="Calibri" panose="020F0502020204030204" pitchFamily="34" charset="0"/>
              </a:rPr>
              <a:t>Enables doctors to view patient histories, review notes, and manage consultations.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 Admin Dashboard: </a:t>
            </a:r>
            <a:r>
              <a:rPr lang="en-GB" sz="2400" dirty="0">
                <a:latin typeface="Calibri" panose="020F0502020204030204" pitchFamily="34" charset="0"/>
                <a:ea typeface="Calibri" panose="020F0502020204030204" pitchFamily="34" charset="0"/>
                <a:cs typeface="Calibri" panose="020F0502020204030204" pitchFamily="34" charset="0"/>
              </a:rPr>
              <a:t>Allows hospital administrators to manage records, monitor data flow, and ensure system compliance.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Patient Portal: </a:t>
            </a:r>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Provides patients with access to their medical history, prescriptions, and reports.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Reception Dashboard : </a:t>
            </a:r>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Manages incoming patients’ accounts and appointments.</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1051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Scope</a:t>
            </a:r>
          </a:p>
        </p:txBody>
      </p:sp>
      <p:sp>
        <p:nvSpPr>
          <p:cNvPr id="3" name="Content Placeholder 2"/>
          <p:cNvSpPr>
            <a:spLocks noGrp="1"/>
          </p:cNvSpPr>
          <p:nvPr>
            <p:ph idx="1"/>
          </p:nvPr>
        </p:nvSpPr>
        <p:spPr>
          <a:xfrm>
            <a:off x="564212" y="1406445"/>
            <a:ext cx="8596668" cy="3880773"/>
          </a:xfrm>
        </p:spPr>
        <p:txBody>
          <a:bodyPr>
            <a:noAutofit/>
          </a:bodyPr>
          <a:lstStyle/>
          <a:p>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The scope of the AI-powered Hospital Information Management System (HIMS) is defined by its focus on improving patient record management, reducing administrative workload, and supporting accurate medical documentation through AI assistance, while keeping doctors in control of validation. The project is specifically designed for healthcare institutions and has clear boundaries on what it will and will not cover.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Inclusions: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 AI-Assisted Medical Note Creation:</a:t>
            </a:r>
            <a:r>
              <a:rPr lang="en-GB" sz="2400" dirty="0">
                <a:solidFill>
                  <a:srgbClr val="729D51"/>
                </a:solidFill>
                <a:latin typeface="Calibri" panose="020F0502020204030204" pitchFamily="34" charset="0"/>
                <a:ea typeface="Calibri" panose="020F0502020204030204" pitchFamily="34" charset="0"/>
                <a:cs typeface="Calibri" panose="020F0502020204030204" pitchFamily="34" charset="0"/>
              </a:rPr>
              <a:t> </a:t>
            </a:r>
            <a:r>
              <a:rPr lang="en-GB" sz="2400" dirty="0">
                <a:solidFill>
                  <a:schemeClr val="tx1"/>
                </a:solidFill>
                <a:latin typeface="Calibri" panose="020F0502020204030204" pitchFamily="34" charset="0"/>
                <a:ea typeface="Calibri" panose="020F0502020204030204" pitchFamily="34" charset="0"/>
                <a:cs typeface="Calibri" panose="020F0502020204030204" pitchFamily="34" charset="0"/>
              </a:rPr>
              <a:t>The system captures doctor-patient conversations, highlights relevant medical details (symptoms, diagnoses, tests), and presents them for doctor confirmation before storing in the database. </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70230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Scope</a:t>
            </a:r>
          </a:p>
        </p:txBody>
      </p:sp>
      <p:sp>
        <p:nvSpPr>
          <p:cNvPr id="3" name="Content Placeholder 2"/>
          <p:cNvSpPr>
            <a:spLocks noGrp="1"/>
          </p:cNvSpPr>
          <p:nvPr>
            <p:ph idx="1"/>
          </p:nvPr>
        </p:nvSpPr>
        <p:spPr>
          <a:xfrm>
            <a:off x="564212" y="1406445"/>
            <a:ext cx="8596668" cy="3880773"/>
          </a:xfrm>
        </p:spPr>
        <p:txBody>
          <a:bodyPr>
            <a:noAutofit/>
          </a:bodyPr>
          <a:lstStyle/>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Centralized Patient Record Management: </a:t>
            </a:r>
            <a:r>
              <a:rPr lang="en-GB" sz="2400" dirty="0">
                <a:latin typeface="Calibri" panose="020F0502020204030204" pitchFamily="34" charset="0"/>
                <a:ea typeface="Calibri" panose="020F0502020204030204" pitchFamily="34" charset="0"/>
                <a:cs typeface="Calibri" panose="020F0502020204030204" pitchFamily="34" charset="0"/>
              </a:rPr>
              <a:t>Hospitals can maintain structured medical histories, accessible to authorized staff across visits.</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Integrated Staff Dashboard: </a:t>
            </a:r>
            <a:r>
              <a:rPr lang="en-GB" sz="2400" dirty="0">
                <a:latin typeface="Calibri" panose="020F0502020204030204" pitchFamily="34" charset="0"/>
                <a:ea typeface="Calibri" panose="020F0502020204030204" pitchFamily="34" charset="0"/>
                <a:cs typeface="Calibri" panose="020F0502020204030204" pitchFamily="34" charset="0"/>
              </a:rPr>
              <a:t>Enables staff to verify or edit patient records, and oversee hospital operations such as scheduling and reporting. </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Secure Patient Access: </a:t>
            </a:r>
            <a:r>
              <a:rPr lang="en-GB" sz="2400" dirty="0">
                <a:latin typeface="Calibri" panose="020F0502020204030204" pitchFamily="34" charset="0"/>
                <a:ea typeface="Calibri" panose="020F0502020204030204" pitchFamily="34" charset="0"/>
                <a:cs typeface="Calibri" panose="020F0502020204030204" pitchFamily="34" charset="0"/>
              </a:rPr>
              <a:t>Patients can receive their reports digitally through their profile or via staff-provided printed documents.</a:t>
            </a:r>
          </a:p>
          <a:p>
            <a:r>
              <a:rPr lang="en-GB" sz="2400" dirty="0">
                <a:solidFill>
                  <a:srgbClr val="0C406F"/>
                </a:solidFill>
                <a:latin typeface="Calibri" panose="020F0502020204030204" pitchFamily="34" charset="0"/>
                <a:ea typeface="Calibri" panose="020F0502020204030204" pitchFamily="34" charset="0"/>
                <a:cs typeface="Calibri" panose="020F0502020204030204" pitchFamily="34" charset="0"/>
              </a:rPr>
              <a:t>Data Analytics for Hospitals: </a:t>
            </a:r>
            <a:r>
              <a:rPr lang="en-GB" sz="2400" dirty="0">
                <a:latin typeface="Calibri" panose="020F0502020204030204" pitchFamily="34" charset="0"/>
                <a:ea typeface="Calibri" panose="020F0502020204030204" pitchFamily="34" charset="0"/>
                <a:cs typeface="Calibri" panose="020F0502020204030204" pitchFamily="34" charset="0"/>
              </a:rPr>
              <a:t>Aggregated data helps identify trends in patient issues, treatment effectiveness, and administrative workload. </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9355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Scope</a:t>
            </a:r>
          </a:p>
        </p:txBody>
      </p:sp>
      <p:sp>
        <p:nvSpPr>
          <p:cNvPr id="3" name="Content Placeholder 2"/>
          <p:cNvSpPr>
            <a:spLocks noGrp="1"/>
          </p:cNvSpPr>
          <p:nvPr>
            <p:ph idx="1"/>
          </p:nvPr>
        </p:nvSpPr>
        <p:spPr>
          <a:xfrm>
            <a:off x="564212" y="1406445"/>
            <a:ext cx="8596668" cy="3880773"/>
          </a:xfrm>
        </p:spPr>
        <p:txBody>
          <a:bodyPr>
            <a:noAutofit/>
          </a:bodyPr>
          <a:lstStyle/>
          <a:p>
            <a:r>
              <a:rPr lang="en-GB" sz="2400" dirty="0">
                <a:solidFill>
                  <a:srgbClr val="0C406F"/>
                </a:solidFill>
              </a:rPr>
              <a:t>Exclusions: </a:t>
            </a:r>
          </a:p>
          <a:p>
            <a:pPr marL="457200" indent="-457200">
              <a:buFont typeface="+mj-lt"/>
              <a:buAutoNum type="arabicPeriod"/>
            </a:pPr>
            <a:r>
              <a:rPr lang="en-GB" sz="2400" dirty="0">
                <a:solidFill>
                  <a:srgbClr val="0C406F"/>
                </a:solidFill>
              </a:rPr>
              <a:t> Full Clinical Decision-Making:</a:t>
            </a:r>
            <a:r>
              <a:rPr lang="en-GB" sz="2400" dirty="0">
                <a:solidFill>
                  <a:srgbClr val="729D51"/>
                </a:solidFill>
              </a:rPr>
              <a:t> </a:t>
            </a:r>
            <a:r>
              <a:rPr lang="en-GB" sz="2400" dirty="0"/>
              <a:t>The system does not recommend treatments or prescribe medicines; it only records and structures doctor-validated information.</a:t>
            </a:r>
          </a:p>
          <a:p>
            <a:pPr marL="457200" indent="-457200">
              <a:buFont typeface="+mj-lt"/>
              <a:buAutoNum type="arabicPeriod"/>
            </a:pPr>
            <a:r>
              <a:rPr lang="en-GB" sz="2400" dirty="0">
                <a:solidFill>
                  <a:srgbClr val="0C406F"/>
                </a:solidFill>
              </a:rPr>
              <a:t>Cross-Hospital Data Sharing: </a:t>
            </a:r>
            <a:r>
              <a:rPr lang="en-GB" sz="2400" dirty="0"/>
              <a:t>Patient data will not automatically transfer between hospitals unless formally integrated with external systems. </a:t>
            </a:r>
          </a:p>
          <a:p>
            <a:pPr marL="457200" indent="-457200">
              <a:buFont typeface="+mj-lt"/>
              <a:buAutoNum type="arabicPeriod"/>
            </a:pPr>
            <a:r>
              <a:rPr lang="en-GB" sz="2400" dirty="0">
                <a:solidFill>
                  <a:srgbClr val="0C406F"/>
                </a:solidFill>
              </a:rPr>
              <a:t>Self-Registration by Patients: </a:t>
            </a:r>
            <a:r>
              <a:rPr lang="en-GB" sz="2400" dirty="0"/>
              <a:t>Initial patient accounts will be created by hospital staff; self service registration will not be included in the current scope. </a:t>
            </a:r>
          </a:p>
          <a:p>
            <a:pPr marL="457200" indent="-457200">
              <a:buFont typeface="+mj-lt"/>
              <a:buAutoNum type="arabicPeriod"/>
            </a:pPr>
            <a:r>
              <a:rPr lang="en-GB" sz="2400" dirty="0">
                <a:solidFill>
                  <a:srgbClr val="0C406F"/>
                </a:solidFill>
              </a:rPr>
              <a:t>Non-Medical Hospital Operations: </a:t>
            </a:r>
            <a:r>
              <a:rPr lang="en-GB" sz="2400" dirty="0"/>
              <a:t>The system will not handle unrelated tasks such as payroll, pharmacy stock management, or facility maintenance. </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962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hlinkClick r:id="rId2"/>
          </p:cNvPr>
          <p:cNvSpPr/>
          <p:nvPr/>
        </p:nvSpPr>
        <p:spPr>
          <a:xfrm>
            <a:off x="3241488" y="6406949"/>
            <a:ext cx="2725204" cy="42377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 Case Diagram</a:t>
            </a:r>
          </a:p>
        </p:txBody>
      </p:sp>
      <p:pic>
        <p:nvPicPr>
          <p:cNvPr id="102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220" y="99031"/>
            <a:ext cx="7979740" cy="622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43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hlinkClick r:id="rId2"/>
          </p:cNvPr>
          <p:cNvSpPr/>
          <p:nvPr/>
        </p:nvSpPr>
        <p:spPr>
          <a:xfrm>
            <a:off x="3241488" y="6406949"/>
            <a:ext cx="2725204" cy="42377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Architecture Diagram</a:t>
            </a:r>
          </a:p>
        </p:txBody>
      </p:sp>
      <p:pic>
        <p:nvPicPr>
          <p:cNvPr id="1027" name="Picture 3"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089" y="110836"/>
            <a:ext cx="8418802" cy="629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6224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717" y="373995"/>
            <a:ext cx="6487181" cy="6043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ounded Rectangle 5">
            <a:hlinkClick r:id="rId3"/>
          </p:cNvPr>
          <p:cNvSpPr/>
          <p:nvPr/>
        </p:nvSpPr>
        <p:spPr>
          <a:xfrm>
            <a:off x="7748833" y="2919790"/>
            <a:ext cx="1885361" cy="3418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ER Diagram</a:t>
            </a:r>
          </a:p>
        </p:txBody>
      </p:sp>
    </p:spTree>
    <p:extLst>
      <p:ext uri="{BB962C8B-B14F-4D97-AF65-F5344CB8AC3E}">
        <p14:creationId xmlns:p14="http://schemas.microsoft.com/office/powerpoint/2010/main" val="432458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hlinkClick r:id="rId2"/>
          </p:cNvPr>
          <p:cNvSpPr/>
          <p:nvPr/>
        </p:nvSpPr>
        <p:spPr>
          <a:xfrm>
            <a:off x="2881269" y="6004736"/>
            <a:ext cx="3639604" cy="32217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Sequence Diagram (Patient)</a:t>
            </a:r>
          </a:p>
        </p:txBody>
      </p:sp>
      <p:pic>
        <p:nvPicPr>
          <p:cNvPr id="2051" name="Picture 3"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762" y="458932"/>
            <a:ext cx="8381856" cy="5341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6536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hlinkClick r:id="rId2"/>
          </p:cNvPr>
          <p:cNvSpPr/>
          <p:nvPr/>
        </p:nvSpPr>
        <p:spPr>
          <a:xfrm>
            <a:off x="2881269" y="6004736"/>
            <a:ext cx="3639604" cy="32217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Sequence Diagram (Doctor)</a:t>
            </a:r>
          </a:p>
        </p:txBody>
      </p:sp>
      <p:pic>
        <p:nvPicPr>
          <p:cNvPr id="3075" name="Picture 3"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1" y="538884"/>
            <a:ext cx="9519059" cy="502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4915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hlinkClick r:id="rId2"/>
          </p:cNvPr>
          <p:cNvSpPr/>
          <p:nvPr/>
        </p:nvSpPr>
        <p:spPr>
          <a:xfrm>
            <a:off x="2687305" y="6383427"/>
            <a:ext cx="3639604" cy="32217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Sequence Diagram (Receptionist)</a:t>
            </a:r>
          </a:p>
        </p:txBody>
      </p:sp>
      <p:pic>
        <p:nvPicPr>
          <p:cNvPr id="4098" name="Picture 2"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972" y="529647"/>
            <a:ext cx="8858828" cy="585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3314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hlinkClick r:id="rId2"/>
          </p:cNvPr>
          <p:cNvSpPr/>
          <p:nvPr/>
        </p:nvSpPr>
        <p:spPr>
          <a:xfrm>
            <a:off x="2687305" y="6383427"/>
            <a:ext cx="3639604" cy="32217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Sequence Diagram (Admin)</a:t>
            </a:r>
          </a:p>
        </p:txBody>
      </p:sp>
      <p:pic>
        <p:nvPicPr>
          <p:cNvPr id="5122" name="Picture 2"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321" y="662131"/>
            <a:ext cx="9293614"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5417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0727" y="951345"/>
            <a:ext cx="7841673" cy="43410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9600" dirty="0">
                <a:solidFill>
                  <a:srgbClr val="0070C0"/>
                </a:solidFill>
                <a:latin typeface="Aptos Display" panose="020B0004020202020204" pitchFamily="34" charset="0"/>
                <a:cs typeface="Times New Roman" panose="02020603050405020304" pitchFamily="18" charset="0"/>
              </a:rPr>
              <a:t>Thanks</a:t>
            </a:r>
            <a:endParaRPr lang="en-US" dirty="0">
              <a:solidFill>
                <a:srgbClr val="0070C0"/>
              </a:solidFill>
              <a:latin typeface="Aptos Display"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93825249"/>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169</TotalTime>
  <Words>596</Words>
  <Application>Microsoft Office PowerPoint</Application>
  <PresentationFormat>Widescreen</PresentationFormat>
  <Paragraphs>41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 Display</vt:lpstr>
      <vt:lpstr>Arial</vt:lpstr>
      <vt:lpstr>Calibri</vt:lpstr>
      <vt:lpstr>Times New Roman</vt:lpstr>
      <vt:lpstr>Trebuchet MS</vt:lpstr>
      <vt:lpstr>Wingdings 3</vt:lpstr>
      <vt:lpstr>Facet</vt:lpstr>
      <vt:lpstr>AI Powered Hospital Information Management System</vt:lpstr>
      <vt:lpstr>Project Overview</vt:lpstr>
      <vt:lpstr>Project Overview</vt:lpstr>
      <vt:lpstr>Project Overview</vt:lpstr>
      <vt:lpstr>Project Scope</vt:lpstr>
      <vt:lpstr>Project Scope</vt:lpstr>
      <vt:lpstr>Project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Hospital Information Management System</dc:title>
  <dc:creator>ILLUSION</dc:creator>
  <cp:lastModifiedBy>Najee Ullah</cp:lastModifiedBy>
  <cp:revision>28</cp:revision>
  <dcterms:created xsi:type="dcterms:W3CDTF">2026-01-05T02:23:15Z</dcterms:created>
  <dcterms:modified xsi:type="dcterms:W3CDTF">2026-01-06T09:52:45Z</dcterms:modified>
</cp:coreProperties>
</file>